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32_20FC9AE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7" r:id="rId2"/>
    <p:sldId id="272" r:id="rId3"/>
    <p:sldId id="304" r:id="rId4"/>
    <p:sldId id="316" r:id="rId5"/>
    <p:sldId id="297" r:id="rId6"/>
    <p:sldId id="298" r:id="rId7"/>
    <p:sldId id="299" r:id="rId8"/>
    <p:sldId id="300" r:id="rId9"/>
    <p:sldId id="303" r:id="rId10"/>
    <p:sldId id="302" r:id="rId11"/>
    <p:sldId id="312" r:id="rId12"/>
    <p:sldId id="306" r:id="rId13"/>
    <p:sldId id="307" r:id="rId14"/>
    <p:sldId id="309" r:id="rId15"/>
    <p:sldId id="310" r:id="rId16"/>
    <p:sldId id="311" r:id="rId17"/>
    <p:sldId id="308" r:id="rId18"/>
    <p:sldId id="313" r:id="rId19"/>
    <p:sldId id="314" r:id="rId20"/>
    <p:sldId id="31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6D179AB-B60C-28E1-7762-FFF2B02493C2}" name="게스트 사용자" initials="게사" userId="게스트 사용자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FF63"/>
    <a:srgbClr val="00F217"/>
    <a:srgbClr val="74C4E9"/>
    <a:srgbClr val="FF7979"/>
    <a:srgbClr val="A2D8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8/10/relationships/authors" Target="authors.xml"/></Relationships>
</file>

<file path=ppt/comments/modernComment_132_20FC9AE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EE7F0B8-0F56-4499-B19C-B57A36697FC6}" authorId="{06D179AB-B60C-28E1-7762-FFF2B02493C2}" created="2026-03-18T12:48:04.99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53425647" sldId="306"/>
      <ac:spMk id="23" creationId="{9ADE40AD-569F-7498-D626-14BC2F22AE62}"/>
    </ac:deMkLst>
    <p188:txBody>
      <a:bodyPr/>
      <a:lstStyle/>
      <a:p>
        <a:r>
          <a:rPr lang="ko-KR" altLang="en-US"/>
          <a:t>9.80665 중력크기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3B1F8-069A-4346-B2A2-8C6EC0CBDE84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16D75-D82B-453D-B4D8-8AC40F3BD6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736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>
                <a:latin typeface="서울남산체 M" panose="02020503020101020101" pitchFamily="18" charset="-127"/>
                <a:ea typeface="서울남산체 M" panose="0202050302010102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AC747-CE37-4F70-8EBC-1B56ECE812AB}" type="datetime1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583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020" y="365760"/>
            <a:ext cx="9794387" cy="531548"/>
          </a:xfrm>
        </p:spPr>
        <p:txBody>
          <a:bodyPr/>
          <a:lstStyle>
            <a:lvl1pPr>
              <a:defRPr>
                <a:latin typeface="서울남산체 M" panose="02020503020101020101" pitchFamily="18" charset="-127"/>
                <a:ea typeface="서울남산체 M" panose="0202050302010102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744" y="1324598"/>
            <a:ext cx="10922983" cy="4855539"/>
          </a:xfrm>
        </p:spPr>
        <p:txBody>
          <a:bodyPr/>
          <a:lstStyle>
            <a:lvl1pPr>
              <a:defRPr>
                <a:latin typeface="서울남산체 M" panose="02020503020101020101" pitchFamily="18" charset="-127"/>
                <a:ea typeface="서울남산체 M" panose="02020503020101020101" pitchFamily="18" charset="-127"/>
              </a:defRPr>
            </a:lvl1pPr>
            <a:lvl2pPr>
              <a:defRPr>
                <a:latin typeface="서울남산체 M" panose="02020503020101020101" pitchFamily="18" charset="-127"/>
                <a:ea typeface="서울남산체 M" panose="02020503020101020101" pitchFamily="18" charset="-127"/>
              </a:defRPr>
            </a:lvl2pPr>
            <a:lvl3pPr>
              <a:defRPr>
                <a:latin typeface="서울남산체 M" panose="02020503020101020101" pitchFamily="18" charset="-127"/>
                <a:ea typeface="서울남산체 M" panose="02020503020101020101" pitchFamily="18" charset="-127"/>
              </a:defRPr>
            </a:lvl3pPr>
            <a:lvl4pPr>
              <a:defRPr>
                <a:latin typeface="서울남산체 M" panose="02020503020101020101" pitchFamily="18" charset="-127"/>
                <a:ea typeface="서울남산체 M" panose="02020503020101020101" pitchFamily="18" charset="-127"/>
              </a:defRPr>
            </a:lvl4pPr>
            <a:lvl5pPr>
              <a:defRPr>
                <a:latin typeface="서울남산체 M" panose="02020503020101020101" pitchFamily="18" charset="-127"/>
                <a:ea typeface="서울남산체 M" panose="02020503020101020101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E1CB-18FD-4F97-921C-1D4835568437}" type="datetime1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latin typeface="서울남산체 M" panose="02020503020101020101" pitchFamily="18" charset="-127"/>
                <a:ea typeface="서울남산체 M" panose="02020503020101020101" pitchFamily="18" charset="-127"/>
              </a:defRPr>
            </a:lvl1pPr>
          </a:lstStyle>
          <a:p>
            <a:fld id="{AE31E8F2-D7DA-47AE-9DAA-01B65DE220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54F3E9-3891-D757-C50F-F91992E0A2DC}"/>
              </a:ext>
            </a:extLst>
          </p:cNvPr>
          <p:cNvSpPr/>
          <p:nvPr userDrawn="1"/>
        </p:nvSpPr>
        <p:spPr>
          <a:xfrm>
            <a:off x="437744" y="965763"/>
            <a:ext cx="8364612" cy="45719"/>
          </a:xfrm>
          <a:prstGeom prst="rect">
            <a:avLst/>
          </a:prstGeom>
          <a:gradFill>
            <a:gsLst>
              <a:gs pos="0">
                <a:schemeClr val="bg1"/>
              </a:gs>
              <a:gs pos="0">
                <a:schemeClr val="bg2">
                  <a:shade val="67500"/>
                  <a:satMod val="115000"/>
                  <a:alpha val="98000"/>
                  <a:lumMod val="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2B49EF-45D1-1D7E-DAC7-5C36D0702092}"/>
              </a:ext>
            </a:extLst>
          </p:cNvPr>
          <p:cNvSpPr/>
          <p:nvPr userDrawn="1"/>
        </p:nvSpPr>
        <p:spPr>
          <a:xfrm>
            <a:off x="2661091" y="6362698"/>
            <a:ext cx="9158218" cy="50057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2">
                  <a:shade val="67500"/>
                  <a:satMod val="115000"/>
                  <a:alpha val="98000"/>
                  <a:lumMod val="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6450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9422-CFB7-42C6-8AA2-A1472A52F5DC}" type="datetime1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94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B58CF-529A-4451-9939-F6168760CF0A}" type="datetime1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374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64399-EA23-4C5A-ACA5-A75593CB8DA8}" type="datetime1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29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098F0-9D89-4795-8303-9A71526FBF67}" type="datetime1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8DD0-62C4-4358-B46D-D3CC6854E1DD}" type="datetime1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986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D7A8F-E021-46AC-9B15-D0E4F8C4E959}" type="datetime1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132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DCE00-3A7D-4F3B-B41D-494CC284CA4D}" type="datetime1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547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73BA-FEF6-4B36-9F96-5DA14A1E2F68}" type="datetime1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000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E9562-9C17-4372-85D1-FFC46DC99AAE}" type="datetime1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628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E047A37-A9AE-4A9E-A814-F71FF98CEC55}" type="datetime1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1E8F2-D7DA-47AE-9DAA-01B65DE220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909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현대하모니 M" panose="02020603020101020101" pitchFamily="18" charset="-127"/>
          <a:ea typeface="현대하모니 M" panose="0202060302010102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현대하모니 M" panose="02020603020101020101" pitchFamily="18" charset="-127"/>
          <a:ea typeface="현대하모니 M" panose="02020603020101020101" pitchFamily="18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현대하모니 M" panose="02020603020101020101" pitchFamily="18" charset="-127"/>
          <a:ea typeface="현대하모니 M" panose="02020603020101020101" pitchFamily="18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현대하모니 M" panose="02020603020101020101" pitchFamily="18" charset="-127"/>
          <a:ea typeface="현대하모니 M" panose="02020603020101020101" pitchFamily="18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현대하모니 M" panose="02020603020101020101" pitchFamily="18" charset="-127"/>
          <a:ea typeface="현대하모니 M" panose="02020603020101020101" pitchFamily="18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현대하모니 M" panose="02020603020101020101" pitchFamily="18" charset="-127"/>
          <a:ea typeface="현대하모니 M" panose="02020603020101020101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microsoft.com/office/2018/10/relationships/comments" Target="../comments/modernComment_132_20FC9AEF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49.png"/><Relationship Id="rId7" Type="http://schemas.openxmlformats.org/officeDocument/2006/relationships/image" Target="../media/image5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49.png"/><Relationship Id="rId7" Type="http://schemas.openxmlformats.org/officeDocument/2006/relationships/image" Target="../media/image6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722DEE-A144-4CCE-8BA2-98516B125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93744"/>
            <a:ext cx="9144000" cy="112296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2000">
                <a:latin typeface="현대하모니 M" panose="02020603020101020101" pitchFamily="18" charset="-127"/>
                <a:ea typeface="현대하모니 M" panose="02020603020101020101" pitchFamily="18" charset="-127"/>
                <a:cs typeface="Times New Roman" panose="02020603050405020304" pitchFamily="18" charset="0"/>
              </a:rPr>
              <a:t>School of Mechanical and Control Engineering</a:t>
            </a:r>
          </a:p>
          <a:p>
            <a:r>
              <a:rPr lang="en-US" altLang="ko-KR" sz="2000">
                <a:latin typeface="현대하모니 M" panose="02020603020101020101" pitchFamily="18" charset="-127"/>
                <a:ea typeface="현대하모니 M" panose="02020603020101020101" pitchFamily="18" charset="-127"/>
                <a:cs typeface="Times New Roman" panose="02020603050405020304" pitchFamily="18" charset="0"/>
              </a:rPr>
              <a:t>22000561 </a:t>
            </a:r>
            <a:r>
              <a:rPr lang="en-US" altLang="ko-KR" sz="2000" err="1">
                <a:latin typeface="현대하모니 M" panose="02020603020101020101" pitchFamily="18" charset="-127"/>
                <a:ea typeface="현대하모니 M" panose="02020603020101020101" pitchFamily="18" charset="-127"/>
                <a:cs typeface="Times New Roman" panose="02020603050405020304" pitchFamily="18" charset="0"/>
              </a:rPr>
              <a:t>Jeayong</a:t>
            </a:r>
            <a:r>
              <a:rPr lang="en-US" altLang="ko-KR" sz="2000">
                <a:latin typeface="현대하모니 M" panose="02020603020101020101" pitchFamily="18" charset="-127"/>
                <a:ea typeface="현대하모니 M" panose="02020603020101020101" pitchFamily="18" charset="-127"/>
                <a:cs typeface="Times New Roman" panose="02020603050405020304" pitchFamily="18" charset="0"/>
              </a:rPr>
              <a:t> Lee / 22100149 Yejoon Kim</a:t>
            </a:r>
            <a:br>
              <a:rPr lang="en-US" altLang="ko-KR" sz="2000">
                <a:latin typeface="현대하모니 M" panose="02020603020101020101" pitchFamily="18" charset="-127"/>
                <a:ea typeface="현대하모니 M" panose="02020603020101020101" pitchFamily="18" charset="-127"/>
                <a:cs typeface="Times New Roman" panose="02020603050405020304" pitchFamily="18" charset="0"/>
              </a:rPr>
            </a:br>
            <a:r>
              <a:rPr lang="en-US" altLang="ko-KR" sz="2000">
                <a:latin typeface="현대하모니 M" panose="02020603020101020101" pitchFamily="18" charset="-127"/>
                <a:ea typeface="현대하모니 M" panose="02020603020101020101" pitchFamily="18" charset="-127"/>
                <a:cs typeface="Times New Roman" panose="02020603050405020304" pitchFamily="18" charset="0"/>
              </a:rPr>
              <a:t>22100652 Sein Jeon / 22300510 Dawon Lee</a:t>
            </a:r>
            <a:endParaRPr lang="ko-KR" altLang="en-US" sz="2000">
              <a:latin typeface="현대하모니 M" panose="02020603020101020101" pitchFamily="18" charset="-127"/>
              <a:ea typeface="현대하모니 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7029E42-1649-43DE-A19D-453E42EC1C21}"/>
              </a:ext>
            </a:extLst>
          </p:cNvPr>
          <p:cNvSpPr/>
          <p:nvPr/>
        </p:nvSpPr>
        <p:spPr>
          <a:xfrm>
            <a:off x="0" y="0"/>
            <a:ext cx="12198927" cy="532563"/>
          </a:xfrm>
          <a:prstGeom prst="rect">
            <a:avLst/>
          </a:prstGeom>
          <a:gradFill>
            <a:gsLst>
              <a:gs pos="20000">
                <a:schemeClr val="accent5">
                  <a:lumMod val="75000"/>
                </a:schemeClr>
              </a:gs>
              <a:gs pos="100000">
                <a:srgbClr val="609AD0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  <a:gs pos="98000">
                <a:schemeClr val="accent5">
                  <a:lumMod val="75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848C3A-A3AA-4BD4-A17F-57837A89C724}"/>
              </a:ext>
            </a:extLst>
          </p:cNvPr>
          <p:cNvSpPr/>
          <p:nvPr/>
        </p:nvSpPr>
        <p:spPr>
          <a:xfrm>
            <a:off x="0" y="6325437"/>
            <a:ext cx="12192000" cy="532563"/>
          </a:xfrm>
          <a:prstGeom prst="rect">
            <a:avLst/>
          </a:prstGeom>
          <a:gradFill flip="none" rotWithShape="1">
            <a:gsLst>
              <a:gs pos="79000">
                <a:schemeClr val="accent5">
                  <a:lumMod val="75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  <a:gs pos="97000">
                <a:schemeClr val="accent1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0B413AC-4FC3-4D70-93C5-F585A434857A}"/>
              </a:ext>
            </a:extLst>
          </p:cNvPr>
          <p:cNvSpPr/>
          <p:nvPr/>
        </p:nvSpPr>
        <p:spPr>
          <a:xfrm>
            <a:off x="1920620" y="2931345"/>
            <a:ext cx="8364612" cy="4571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75000"/>
                </a:schemeClr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56B969-7851-4933-B707-B436EAB8A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264" y="5437274"/>
            <a:ext cx="2219325" cy="638175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93FF1CC-D1C7-4813-B898-A12330F02DF3}"/>
              </a:ext>
            </a:extLst>
          </p:cNvPr>
          <p:cNvSpPr txBox="1">
            <a:spLocks/>
          </p:cNvSpPr>
          <p:nvPr/>
        </p:nvSpPr>
        <p:spPr>
          <a:xfrm>
            <a:off x="845126" y="3040434"/>
            <a:ext cx="10515600" cy="752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Font typeface="Wingdings 2" pitchFamily="18" charset="2"/>
              <a:buNone/>
            </a:pP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  <a:cs typeface="Times New Roman" panose="02020603050405020304" pitchFamily="18" charset="0"/>
              </a:rPr>
              <a:t>Autonomous Vehicle Control</a:t>
            </a:r>
            <a:endParaRPr lang="ko-KR" altLang="en-US" sz="1100">
              <a:latin typeface="현대하모니 M" panose="02020603020101020101" pitchFamily="18" charset="-127"/>
              <a:ea typeface="현대하모니 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2263C7B-8A5D-B81D-5F76-2B89106D0CE9}"/>
              </a:ext>
            </a:extLst>
          </p:cNvPr>
          <p:cNvSpPr txBox="1">
            <a:spLocks/>
          </p:cNvSpPr>
          <p:nvPr/>
        </p:nvSpPr>
        <p:spPr>
          <a:xfrm>
            <a:off x="1551614" y="1905960"/>
            <a:ext cx="9088771" cy="904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Font typeface="Wingdings 2" pitchFamily="18" charset="2"/>
              <a:buNone/>
            </a:pPr>
            <a:r>
              <a:rPr lang="en-US" altLang="ko-KR" sz="4800">
                <a:latin typeface="현대하모니 B" panose="02020603020101020101" pitchFamily="18" charset="-127"/>
                <a:ea typeface="현대하모니 B" panose="02020603020101020101" pitchFamily="18" charset="-127"/>
                <a:cs typeface="Times New Roman" panose="02020603050405020304" pitchFamily="18" charset="0"/>
              </a:rPr>
              <a:t>Complementary Filer Design</a:t>
            </a:r>
            <a:endParaRPr lang="ko-KR" altLang="en-US" sz="2000">
              <a:latin typeface="현대하모니 B" panose="02020603020101020101" pitchFamily="18" charset="-127"/>
              <a:ea typeface="현대하모니 B" panose="0202060302010102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940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E848F0-774F-2612-5580-543404C47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  <a:cs typeface="Times New Roman" panose="02020603050405020304" pitchFamily="18" charset="0"/>
              </a:rPr>
              <a:t>Contents</a:t>
            </a:r>
            <a:endParaRPr lang="ko-KR" altLang="en-US">
              <a:latin typeface="현대하모니 M" panose="02020603020101020101" pitchFamily="18" charset="-127"/>
              <a:ea typeface="현대하모니 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C45EAB-2DC5-1374-F5A5-53415F40A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용어정리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목표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고도채널 안정화 루프 분석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기압고도계 설계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고도채널 안정화 루프 설계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결과 분석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부록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D92E36D4-7B69-C0C4-30E0-32C09C5F2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</p:spPr>
        <p:txBody>
          <a:bodyPr/>
          <a:lstStyle/>
          <a:p>
            <a:fld id="{AE31E8F2-D7DA-47AE-9DAA-01B65DE22032}" type="slidenum">
              <a:rPr lang="ko-KR" altLang="en-US" sz="1800" smtClean="0">
                <a:solidFill>
                  <a:schemeClr val="bg1">
                    <a:lumMod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</a:t>
            </a:fld>
            <a:endParaRPr lang="ko-KR" altLang="en-US" sz="1800">
              <a:solidFill>
                <a:schemeClr val="bg1">
                  <a:lumMod val="50000"/>
                </a:schemeClr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0396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EF033-D3A6-B89D-315B-43BCBF151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A0AFD-CF82-8929-1F50-F3E0363ED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1.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목표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C778DB-1C1D-1122-1B72-32A27CA5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z="180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3</a:t>
            </a:fld>
            <a:endParaRPr lang="ko-KR" altLang="en-US" sz="18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1F69B29D-A450-AC28-CA08-96CE5033CAD5}"/>
              </a:ext>
            </a:extLst>
          </p:cNvPr>
          <p:cNvSpPr/>
          <p:nvPr/>
        </p:nvSpPr>
        <p:spPr>
          <a:xfrm>
            <a:off x="5804492" y="3711302"/>
            <a:ext cx="583017" cy="492430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53EB1-4EF0-25FF-EC6C-76D407948797}"/>
              </a:ext>
            </a:extLst>
          </p:cNvPr>
          <p:cNvSpPr txBox="1"/>
          <p:nvPr/>
        </p:nvSpPr>
        <p:spPr>
          <a:xfrm>
            <a:off x="281273" y="2641766"/>
            <a:ext cx="55232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>
                <a:solidFill>
                  <a:srgbClr val="0070C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INS</a:t>
            </a:r>
            <a:r>
              <a:rPr lang="ko-KR" altLang="en-US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만을 활용하여 구한 자율이동체의</a:t>
            </a:r>
            <a:br>
              <a:rPr lang="en-US" altLang="ko-KR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</a:br>
            <a:r>
              <a:rPr lang="ko-KR" altLang="en-US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위치는</a:t>
            </a:r>
            <a:r>
              <a:rPr lang="en-US" altLang="ko-KR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시간이 지남에 따라 </a:t>
            </a:r>
            <a:r>
              <a:rPr lang="ko-KR" altLang="en-US" sz="2400"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발산</a:t>
            </a:r>
            <a:endParaRPr lang="en-US" altLang="ko-KR" sz="2400"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C52A5-335E-1D8A-14E7-D4AC5DD43C83}"/>
              </a:ext>
            </a:extLst>
          </p:cNvPr>
          <p:cNvSpPr txBox="1"/>
          <p:nvPr/>
        </p:nvSpPr>
        <p:spPr>
          <a:xfrm>
            <a:off x="6387508" y="2641766"/>
            <a:ext cx="55232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err="1">
                <a:solidFill>
                  <a:srgbClr val="0070C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보조항법장치</a:t>
            </a:r>
            <a:r>
              <a:rPr lang="en-US" altLang="ko-KR" sz="2400">
                <a:solidFill>
                  <a:srgbClr val="0070C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(Barometer</a:t>
            </a:r>
            <a:r>
              <a:rPr lang="ko-KR" altLang="en-US" sz="2400">
                <a:solidFill>
                  <a:srgbClr val="0070C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등</a:t>
            </a:r>
            <a:r>
              <a:rPr lang="en-US" altLang="ko-KR" sz="2400">
                <a:solidFill>
                  <a:srgbClr val="0070C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r>
              <a:rPr lang="ko-KR" altLang="en-US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에서 구한 자율이동체의 위치는</a:t>
            </a:r>
            <a:r>
              <a:rPr lang="en-US" altLang="ko-KR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정확하나 </a:t>
            </a:r>
            <a:r>
              <a:rPr lang="ko-KR" altLang="en-US" sz="2400"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응답이 느림</a:t>
            </a:r>
            <a:endParaRPr lang="en-US" altLang="ko-KR" sz="2400"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61A485-6538-C371-980E-D79524E06EBA}"/>
              </a:ext>
            </a:extLst>
          </p:cNvPr>
          <p:cNvSpPr txBox="1"/>
          <p:nvPr/>
        </p:nvSpPr>
        <p:spPr>
          <a:xfrm>
            <a:off x="3334390" y="4442271"/>
            <a:ext cx="55232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보조항법 센서를 활용하여</a:t>
            </a:r>
            <a:br>
              <a:rPr lang="en-US" altLang="ko-KR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</a:br>
            <a:r>
              <a:rPr lang="en-US" altLang="ko-KR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INS</a:t>
            </a:r>
            <a:r>
              <a:rPr lang="ko-KR" altLang="en-US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의 발산하는 특성을 보완</a:t>
            </a:r>
            <a:r>
              <a:rPr lang="en-US" altLang="ko-KR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하자</a:t>
            </a:r>
            <a:r>
              <a:rPr lang="en-US" altLang="ko-KR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!</a:t>
            </a:r>
            <a:endParaRPr lang="en-US" altLang="ko-KR" sz="2400"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15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23EC3-C48D-1BC7-9C83-B72912D64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AE852C-E868-FC6E-F0D8-CCDC1C713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2.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용어정리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306CED-F3BB-003C-0C8E-CC2354E03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z="180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4</a:t>
            </a:fld>
            <a:endParaRPr lang="ko-KR" altLang="en-US" sz="18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표 13">
                <a:extLst>
                  <a:ext uri="{FF2B5EF4-FFF2-40B4-BE49-F238E27FC236}">
                    <a16:creationId xmlns:a16="http://schemas.microsoft.com/office/drawing/2014/main" id="{699143F1-B4C9-99AF-ADD3-84AFA7AFF6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6733220"/>
                  </p:ext>
                </p:extLst>
              </p:nvPr>
            </p:nvGraphicFramePr>
            <p:xfrm>
              <a:off x="692297" y="1150999"/>
              <a:ext cx="8127999" cy="4832858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257005">
                      <a:extLst>
                        <a:ext uri="{9D8B030D-6E8A-4147-A177-3AD203B41FA5}">
                          <a16:colId xmlns:a16="http://schemas.microsoft.com/office/drawing/2014/main" val="3029897278"/>
                        </a:ext>
                      </a:extLst>
                    </a:gridCol>
                    <a:gridCol w="4536561">
                      <a:extLst>
                        <a:ext uri="{9D8B030D-6E8A-4147-A177-3AD203B41FA5}">
                          <a16:colId xmlns:a16="http://schemas.microsoft.com/office/drawing/2014/main" val="3616081335"/>
                        </a:ext>
                      </a:extLst>
                    </a:gridCol>
                    <a:gridCol w="2334433">
                      <a:extLst>
                        <a:ext uri="{9D8B030D-6E8A-4147-A177-3AD203B41FA5}">
                          <a16:colId xmlns:a16="http://schemas.microsoft.com/office/drawing/2014/main" val="14297101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Symbol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Name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Value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42613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기압고도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구해야 하는 값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현대하모니 M" panose="02020603020101020101" pitchFamily="18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현대하모니 M" panose="02020603020101020101" pitchFamily="18" charset="-127"/>
                                    </a:rPr>
                                    <m:t>𝑚</m:t>
                                  </m:r>
                                </m:e>
                              </m:d>
                            </m:oMath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66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해당 대기층 하단부의 기준 고도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0 [</m:t>
                                </m:r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𝑚</m:t>
                                </m:r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2578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현대하모니 M" panose="02020603020101020101" pitchFamily="18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현대하모니 M" panose="02020603020101020101" pitchFamily="18" charset="-127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현대하모니 M" panose="02020603020101020101" pitchFamily="18" charset="-127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에서의 온도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288.15 [</m:t>
                                </m:r>
                                <m:r>
                                  <a:rPr lang="ko-KR" alt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𝐾</m:t>
                                </m:r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290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특정 고도에서의 기압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센서 측정 값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현대하모니 M" panose="02020603020101020101" pitchFamily="18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현대하모니 M" panose="02020603020101020101" pitchFamily="18" charset="-127"/>
                                    </a:rPr>
                                    <m:t>𝑃𝑎</m:t>
                                  </m:r>
                                </m:e>
                              </m:d>
                            </m:oMath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10686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현대하모니 M" panose="02020603020101020101" pitchFamily="18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현대하모니 M" panose="02020603020101020101" pitchFamily="18" charset="-127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현대하모니 M" panose="02020603020101020101" pitchFamily="18" charset="-127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에서의 기압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101325 [</m:t>
                                </m:r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𝑃𝑎</m:t>
                                </m:r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12253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보편 기체 상수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(universal gas constant)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8.13446 [</m:t>
                                </m:r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𝐽</m:t>
                                </m:r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/(</m:t>
                                </m:r>
                                <m:r>
                                  <a:rPr lang="en-US" altLang="ko-KR" b="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𝑚𝑜𝑙</m:t>
                                </m:r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⋅</m:t>
                                </m:r>
                                <m:r>
                                  <a:rPr lang="en-US" altLang="ko-KR" b="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𝐾</m:t>
                                </m:r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6187290"/>
                      </a:ext>
                    </a:extLst>
                  </a:tr>
                  <a:tr h="364903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err="1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대류층</a:t>
                          </a:r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 온도 변화율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0.0065 [</m:t>
                                </m:r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𝐾</m:t>
                                </m:r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/</m:t>
                                </m:r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𝑚</m:t>
                                </m:r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7507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해수면 기준 중력 가속도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9.78032677 [</m:t>
                                </m:r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𝑚</m:t>
                                </m:r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en-US" altLang="ko-KR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ko-KR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948859"/>
                      </a:ext>
                    </a:extLst>
                  </a:tr>
                  <a:tr h="289529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공기의 평균 분자량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0.0289644 [</m:t>
                                </m:r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𝑘𝑔</m:t>
                                </m:r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/</m:t>
                                </m:r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𝑚𝑜𝑙</m:t>
                                </m:r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9157743"/>
                      </a:ext>
                    </a:extLst>
                  </a:tr>
                  <a:tr h="244543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𝑍</m:t>
                                </m:r>
                              </m:oMath>
                            </m:oMathPara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기하학적 고도 차이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𝑚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781179"/>
                      </a:ext>
                    </a:extLst>
                  </a:tr>
                  <a:tr h="244543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𝜌</m:t>
                                </m:r>
                              </m:oMath>
                            </m:oMathPara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공기 밀도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계산 값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현대하모니 M" panose="02020603020101020101" pitchFamily="18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현대하모니 M" panose="02020603020101020101" pitchFamily="18" charset="-127"/>
                                    </a:rPr>
                                    <m:t>𝑘𝑔</m:t>
                                  </m:r>
                                  <m:r>
                                    <a:rPr lang="en-US" altLang="ko-KR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현대하모니 M" panose="02020603020101020101" pitchFamily="18" charset="-127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en-US" altLang="ko-KR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현대하모니 M" panose="02020603020101020101" pitchFamily="18" charset="-127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현대하모니 M" panose="02020603020101020101" pitchFamily="18" charset="-127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en-US" altLang="ko-KR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현대하모니 M" panose="02020603020101020101" pitchFamily="18" charset="-127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8808525"/>
                      </a:ext>
                    </a:extLst>
                  </a:tr>
                  <a:tr h="244543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현대하모니 M" panose="02020603020101020101" pitchFamily="18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현대하모니 M" panose="02020603020101020101" pitchFamily="18" charset="-127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현대하모니 M" panose="02020603020101020101" pitchFamily="18" charset="-127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에서의 공기 밀도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1.225 [</m:t>
                                </m:r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𝑘𝑔</m:t>
                                </m:r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en-US" altLang="ko-KR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US" altLang="ko-KR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현대하모니 M" panose="02020603020101020101" pitchFamily="18" charset="-127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현대하모니 M" panose="02020603020101020101" pitchFamily="18" charset="-127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55148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표 13">
                <a:extLst>
                  <a:ext uri="{FF2B5EF4-FFF2-40B4-BE49-F238E27FC236}">
                    <a16:creationId xmlns:a16="http://schemas.microsoft.com/office/drawing/2014/main" id="{699143F1-B4C9-99AF-ADD3-84AFA7AFF6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6733220"/>
                  </p:ext>
                </p:extLst>
              </p:nvPr>
            </p:nvGraphicFramePr>
            <p:xfrm>
              <a:off x="692297" y="1150999"/>
              <a:ext cx="8127999" cy="4832858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257005">
                      <a:extLst>
                        <a:ext uri="{9D8B030D-6E8A-4147-A177-3AD203B41FA5}">
                          <a16:colId xmlns:a16="http://schemas.microsoft.com/office/drawing/2014/main" val="3029897278"/>
                        </a:ext>
                      </a:extLst>
                    </a:gridCol>
                    <a:gridCol w="4536561">
                      <a:extLst>
                        <a:ext uri="{9D8B030D-6E8A-4147-A177-3AD203B41FA5}">
                          <a16:colId xmlns:a16="http://schemas.microsoft.com/office/drawing/2014/main" val="3616081335"/>
                        </a:ext>
                      </a:extLst>
                    </a:gridCol>
                    <a:gridCol w="2334433">
                      <a:extLst>
                        <a:ext uri="{9D8B030D-6E8A-4147-A177-3AD203B41FA5}">
                          <a16:colId xmlns:a16="http://schemas.microsoft.com/office/drawing/2014/main" val="14297101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Symbol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Name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Value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4261303"/>
                      </a:ext>
                    </a:extLst>
                  </a:tr>
                  <a:tr h="3869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5" t="-101563" r="-548544" b="-1070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기압고도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8564" t="-101563" r="-522" b="-10703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66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5" t="-215000" r="-548544" b="-104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해당 대기층 하단부의 기준 고도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8564" t="-215000" r="-522" b="-104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2578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5" t="-309836" r="-548544" b="-9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785" t="-309836" r="-51678" b="-9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8564" t="-309836" r="-522" b="-9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290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5" t="-409836" r="-548544" b="-8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특정 고도에서의 기압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8564" t="-409836" r="-522" b="-8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10686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5" t="-509836" r="-548544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785" t="-509836" r="-51678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8564" t="-509836" r="-522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12253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5" t="-609836" r="-548544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보편 기체 상수</a:t>
                          </a: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(universal gas constant)</a:t>
                          </a:r>
                          <a:endParaRPr lang="ko-KR" altLang="en-US" b="0">
                            <a:solidFill>
                              <a:schemeClr val="tx1"/>
                            </a:solidFill>
                            <a:latin typeface="현대하모니 M" panose="02020603020101020101" pitchFamily="18" charset="-127"/>
                            <a:ea typeface="현대하모니 M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8564" t="-609836" r="-522" b="-6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618729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5" t="-721667" r="-548544" b="-53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 err="1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대류층</a:t>
                          </a:r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 온도 변화율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8564" t="-721667" r="-522" b="-53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7507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5" t="-808197" r="-548544" b="-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해수면 기준 중력 가속도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8564" t="-808197" r="-522" b="-4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94885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5" t="-923333" r="-548544" b="-3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공기의 평균 분자량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8564" t="-923333" r="-522" b="-3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9157743"/>
                      </a:ext>
                    </a:extLst>
                  </a:tr>
                  <a:tr h="3869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5" t="-959375" r="-548544" b="-2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기하학적 고도 차이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8564" t="-959375" r="-522" b="-2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78117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5" t="-1130000" r="-548544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b="0">
                              <a:solidFill>
                                <a:schemeClr val="tx1"/>
                              </a:solidFill>
                              <a:latin typeface="현대하모니 M" panose="02020603020101020101" pitchFamily="18" charset="-127"/>
                              <a:ea typeface="현대하모니 M" panose="02020603020101020101" pitchFamily="18" charset="-127"/>
                            </a:rPr>
                            <a:t>공기 밀도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8564" t="-1130000" r="-522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88085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5" t="-1230000" r="-548544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785" t="-1230000" r="-51678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8564" t="-1230000" r="-522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55148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DFF7639-21AE-5A46-E77E-62A14F990CBD}"/>
              </a:ext>
            </a:extLst>
          </p:cNvPr>
          <p:cNvSpPr txBox="1"/>
          <p:nvPr/>
        </p:nvSpPr>
        <p:spPr>
          <a:xfrm>
            <a:off x="692297" y="6099354"/>
            <a:ext cx="26813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*</a:t>
            </a:r>
            <a:r>
              <a:rPr lang="ko-KR" altLang="en-US" sz="1400" b="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상수 값은 </a:t>
            </a:r>
            <a:r>
              <a:rPr lang="en-US" altLang="ko-KR" sz="1400" b="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ICAO </a:t>
            </a:r>
            <a:r>
              <a:rPr lang="ko-KR" altLang="en-US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표준규격 기준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825C11-C467-122E-47E8-C57243A4189E}"/>
                  </a:ext>
                </a:extLst>
              </p:cNvPr>
              <p:cNvSpPr txBox="1"/>
              <p:nvPr/>
            </p:nvSpPr>
            <p:spPr>
              <a:xfrm>
                <a:off x="9436987" y="4139241"/>
                <a:ext cx="20627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9.80665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825C11-C467-122E-47E8-C57243A41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6987" y="4139241"/>
                <a:ext cx="2062716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DA0113E5-DA8E-6791-4724-507435CA32F4}"/>
              </a:ext>
            </a:extLst>
          </p:cNvPr>
          <p:cNvSpPr/>
          <p:nvPr/>
        </p:nvSpPr>
        <p:spPr>
          <a:xfrm rot="16200000">
            <a:off x="9003636" y="4068315"/>
            <a:ext cx="286264" cy="511184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586DE2-CB7E-199C-BDC1-0E399EE66CAB}"/>
              </a:ext>
            </a:extLst>
          </p:cNvPr>
          <p:cNvSpPr txBox="1"/>
          <p:nvPr/>
        </p:nvSpPr>
        <p:spPr>
          <a:xfrm>
            <a:off x="9127676" y="3857011"/>
            <a:ext cx="26813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solidFill>
                  <a:srgbClr val="0070C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IMU </a:t>
            </a:r>
            <a:r>
              <a:rPr lang="ko-KR" altLang="en-US" sz="1400">
                <a:solidFill>
                  <a:srgbClr val="0070C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센서 출력 값 기준으로 변경</a:t>
            </a:r>
            <a:endParaRPr lang="ko-KR" altLang="en-US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55D6A2-A61C-0148-16D8-3D4A8572DB1F}"/>
                  </a:ext>
                </a:extLst>
              </p:cNvPr>
              <p:cNvSpPr txBox="1"/>
              <p:nvPr/>
            </p:nvSpPr>
            <p:spPr>
              <a:xfrm>
                <a:off x="9436987" y="4865153"/>
                <a:ext cx="247147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6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높이의 증분</a:t>
                </a:r>
                <a:r>
                  <a:rPr lang="en-US" altLang="ko-KR" sz="16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𝑑𝑍</m:t>
                    </m:r>
                  </m:oMath>
                </a14:m>
                <a:r>
                  <a:rPr lang="en-US" altLang="ko-KR" sz="16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)</a:t>
                </a:r>
                <a:r>
                  <a:rPr lang="ko-KR" altLang="en-US" sz="16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으로부터</a:t>
                </a:r>
                <a:endParaRPr lang="en-US" altLang="ko-KR" sz="160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r>
                  <a:rPr lang="ko-KR" altLang="en-US" sz="16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정의 됨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55D6A2-A61C-0148-16D8-3D4A8572D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6987" y="4865153"/>
                <a:ext cx="2471478" cy="584775"/>
              </a:xfrm>
              <a:prstGeom prst="rect">
                <a:avLst/>
              </a:prstGeom>
              <a:blipFill>
                <a:blip r:embed="rId4"/>
                <a:stretch>
                  <a:fillRect l="-1235" t="-3125" r="-24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4FC11D5C-82FA-5196-4515-E32079B9A8FD}"/>
              </a:ext>
            </a:extLst>
          </p:cNvPr>
          <p:cNvSpPr/>
          <p:nvPr/>
        </p:nvSpPr>
        <p:spPr>
          <a:xfrm rot="16200000">
            <a:off x="9003636" y="4794227"/>
            <a:ext cx="286264" cy="511184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5FFF10-3CA0-5E50-F932-4B3BDA6E691D}"/>
              </a:ext>
            </a:extLst>
          </p:cNvPr>
          <p:cNvSpPr txBox="1"/>
          <p:nvPr/>
        </p:nvSpPr>
        <p:spPr>
          <a:xfrm>
            <a:off x="692297" y="6485060"/>
            <a:ext cx="5317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**</a:t>
            </a:r>
            <a:r>
              <a:rPr lang="ko-KR" altLang="en-US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비고</a:t>
            </a:r>
            <a:r>
              <a:rPr lang="en-US" altLang="ko-KR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- </a:t>
            </a:r>
            <a:r>
              <a:rPr lang="ko-KR" altLang="en-US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지역에 따라서 달라질 가능성 </a:t>
            </a:r>
            <a:r>
              <a:rPr lang="ko-KR" altLang="en-US" sz="1400" b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有</a:t>
            </a:r>
            <a:r>
              <a:rPr lang="en-US" altLang="ko-KR" sz="1400" b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ko-KR" altLang="en-US" sz="1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추후 파라미터 변경 가능</a:t>
            </a:r>
            <a:endParaRPr lang="ko-KR" altLang="en-US" sz="1400" b="1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1EC608-7ACD-CBC4-55BF-B080162FD27D}"/>
              </a:ext>
            </a:extLst>
          </p:cNvPr>
          <p:cNvSpPr txBox="1"/>
          <p:nvPr/>
        </p:nvSpPr>
        <p:spPr>
          <a:xfrm>
            <a:off x="8859509" y="2302098"/>
            <a:ext cx="10857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**</a:t>
            </a:r>
            <a:r>
              <a:rPr lang="ko-KR" altLang="en-US" sz="18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비고</a:t>
            </a:r>
            <a:r>
              <a:rPr lang="en-US" altLang="ko-KR" sz="18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A712B1-1F5C-206B-240C-30AFDAC969BB}"/>
              </a:ext>
            </a:extLst>
          </p:cNvPr>
          <p:cNvSpPr txBox="1"/>
          <p:nvPr/>
        </p:nvSpPr>
        <p:spPr>
          <a:xfrm>
            <a:off x="8859509" y="3034468"/>
            <a:ext cx="10857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**</a:t>
            </a:r>
            <a:r>
              <a:rPr lang="ko-KR" altLang="en-US" sz="18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비고</a:t>
            </a:r>
            <a:r>
              <a:rPr lang="en-US" altLang="ko-KR" sz="18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D4C0-0406-551F-C37E-D078BF48769F}"/>
              </a:ext>
            </a:extLst>
          </p:cNvPr>
          <p:cNvSpPr txBox="1"/>
          <p:nvPr/>
        </p:nvSpPr>
        <p:spPr>
          <a:xfrm>
            <a:off x="8859509" y="5631133"/>
            <a:ext cx="10857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**</a:t>
            </a:r>
            <a:r>
              <a:rPr lang="ko-KR" altLang="en-US" sz="18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비고</a:t>
            </a:r>
            <a:r>
              <a:rPr lang="en-US" altLang="ko-KR" sz="18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9324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8BED5-D563-BC85-6162-CF1A4169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AE722-CB01-A990-164C-69BC061FC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3.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고도채널 안정화 루프 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4DCA33-ED58-316B-7AD6-E7F58FE2D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z="180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5</a:t>
            </a:fld>
            <a:endParaRPr lang="ko-KR" altLang="en-US" sz="18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48E11B-571B-596D-2C3F-357FCFBD572A}"/>
                  </a:ext>
                </a:extLst>
              </p:cNvPr>
              <p:cNvSpPr txBox="1"/>
              <p:nvPr/>
            </p:nvSpPr>
            <p:spPr>
              <a:xfrm>
                <a:off x="6576373" y="1181668"/>
                <a:ext cx="4562275" cy="35189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000" b="0">
                    <a:solidFill>
                      <a:srgbClr val="0070C0"/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가속도계 </a:t>
                </a:r>
                <a14:m>
                  <m:oMath xmlns:m="http://schemas.openxmlformats.org/officeDocument/2006/math">
                    <m:r>
                      <a:rPr lang="en-US" altLang="ko-KR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×1/</m:t>
                    </m:r>
                    <m:sSup>
                      <m:sSupPr>
                        <m:ctrlPr>
                          <a:rPr lang="en-US" altLang="ko-KR" sz="20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</m:ctrlPr>
                      </m:sSupPr>
                      <m:e>
                        <m:r>
                          <a:rPr lang="ko-KR" altLang="en-US" sz="20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𝑠</m:t>
                        </m:r>
                      </m:e>
                      <m:sup>
                        <m:r>
                          <a:rPr lang="en-US" altLang="ko-KR" sz="20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2000" b="0">
                    <a:solidFill>
                      <a:srgbClr val="0070C0"/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↦ </a:t>
                </a:r>
                <a:r>
                  <a:rPr lang="ko-KR" altLang="en-US" sz="2000" b="0">
                    <a:solidFill>
                      <a:srgbClr val="0070C0"/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고도</a:t>
                </a:r>
                <a:endParaRPr lang="en-US" altLang="ko-KR" sz="2000" b="0">
                  <a:solidFill>
                    <a:srgbClr val="0070C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bSup>
                                <m:sSub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br>
                  <a:rPr lang="en-US" altLang="ko-KR" sz="2000"/>
                </a:br>
                <a:endParaRPr lang="en-US" altLang="ko-KR" sz="2000"/>
              </a:p>
              <a:p>
                <a:pPr>
                  <a:lnSpc>
                    <a:spcPct val="150000"/>
                  </a:lnSpc>
                </a:pPr>
                <a:br>
                  <a:rPr lang="en-US" altLang="ko-KR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</a:br>
                <a:r>
                  <a:rPr lang="ko-KR" altLang="en-US" sz="2000">
                    <a:solidFill>
                      <a:srgbClr val="FF0000"/>
                    </a:solidFill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보조센서 ↦ 고도</a:t>
                </a:r>
                <a:endParaRPr lang="en-US" altLang="ko-KR" sz="2000"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𝑎𝑖𝑑</m:t>
                              </m:r>
                            </m:sub>
                          </m:sSub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bSup>
                                <m:sSub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sz="200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48E11B-571B-596D-2C3F-357FCFBD5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373" y="1181668"/>
                <a:ext cx="4562275" cy="3518912"/>
              </a:xfrm>
              <a:prstGeom prst="rect">
                <a:avLst/>
              </a:prstGeom>
              <a:blipFill>
                <a:blip r:embed="rId2"/>
                <a:stretch>
                  <a:fillRect l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그림 15">
            <a:extLst>
              <a:ext uri="{FF2B5EF4-FFF2-40B4-BE49-F238E27FC236}">
                <a16:creationId xmlns:a16="http://schemas.microsoft.com/office/drawing/2014/main" id="{DB6CA282-0D59-D460-FEBE-27BCAA70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14" y="1475600"/>
            <a:ext cx="5572625" cy="4617318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822E3478-C692-184B-7DE1-D2F9363EC80C}"/>
              </a:ext>
            </a:extLst>
          </p:cNvPr>
          <p:cNvSpPr/>
          <p:nvPr/>
        </p:nvSpPr>
        <p:spPr>
          <a:xfrm>
            <a:off x="3430188" y="1938670"/>
            <a:ext cx="205563" cy="205563"/>
          </a:xfrm>
          <a:prstGeom prst="ellipse">
            <a:avLst/>
          </a:prstGeom>
          <a:noFill/>
          <a:ln w="63500">
            <a:solidFill>
              <a:srgbClr val="00F2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673F46D-E7DF-4DB3-9475-F21C09BE619F}"/>
                  </a:ext>
                </a:extLst>
              </p:cNvPr>
              <p:cNvSpPr txBox="1"/>
              <p:nvPr/>
            </p:nvSpPr>
            <p:spPr>
              <a:xfrm>
                <a:off x="3032648" y="2978157"/>
                <a:ext cx="10857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ko-KR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673F46D-E7DF-4DB3-9475-F21C09BE6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648" y="2978157"/>
                <a:ext cx="108570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C20381B-CB80-10E3-E9E6-BF2CD4B1E407}"/>
                  </a:ext>
                </a:extLst>
              </p:cNvPr>
              <p:cNvSpPr txBox="1"/>
              <p:nvPr/>
            </p:nvSpPr>
            <p:spPr>
              <a:xfrm>
                <a:off x="6798930" y="4973703"/>
                <a:ext cx="19792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49.12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6 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𝐻𝑧</m:t>
                          </m:r>
                        </m:e>
                      </m:d>
                    </m:oMath>
                  </m:oMathPara>
                </a14:m>
                <a:endParaRPr lang="en-US" altLang="ko-KR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C20381B-CB80-10E3-E9E6-BF2CD4B1E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8930" y="4973703"/>
                <a:ext cx="197929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19FE39D-C2B8-215A-267A-26FA7F2ADE02}"/>
                  </a:ext>
                </a:extLst>
              </p:cNvPr>
              <p:cNvSpPr txBox="1"/>
              <p:nvPr/>
            </p:nvSpPr>
            <p:spPr>
              <a:xfrm>
                <a:off x="6624572" y="5905655"/>
                <a:ext cx="2328007" cy="374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b="0"/>
                  <a:t>*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=0.01 [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𝑠𝑒𝑐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ko-KR" altLang="en-US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기준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19FE39D-C2B8-215A-267A-26FA7F2AD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572" y="5905655"/>
                <a:ext cx="2328007" cy="374526"/>
              </a:xfrm>
              <a:prstGeom prst="rect">
                <a:avLst/>
              </a:prstGeom>
              <a:blipFill>
                <a:blip r:embed="rId6"/>
                <a:stretch>
                  <a:fillRect l="-2356" t="-1311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AD770BC3-204F-6222-CA48-D82655A1C4AE}"/>
              </a:ext>
            </a:extLst>
          </p:cNvPr>
          <p:cNvSpPr/>
          <p:nvPr/>
        </p:nvSpPr>
        <p:spPr>
          <a:xfrm rot="16200000">
            <a:off x="8904945" y="4967802"/>
            <a:ext cx="286264" cy="381133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B9AF769-31CB-3E8C-C330-C04E55722B8C}"/>
                  </a:ext>
                </a:extLst>
              </p:cNvPr>
              <p:cNvSpPr txBox="1"/>
              <p:nvPr/>
            </p:nvSpPr>
            <p:spPr>
              <a:xfrm>
                <a:off x="9159356" y="4973703"/>
                <a:ext cx="19792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0.0203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𝑠𝑒𝑐</m:t>
                          </m:r>
                        </m:e>
                      </m:d>
                    </m:oMath>
                  </m:oMathPara>
                </a14:m>
                <a:endParaRPr lang="en-US" altLang="ko-KR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B9AF769-31CB-3E8C-C330-C04E55722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9356" y="4973703"/>
                <a:ext cx="197929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D2749382-1524-DFF4-A93D-F375D8EBFE43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3532969" y="2144233"/>
            <a:ext cx="1" cy="847060"/>
          </a:xfrm>
          <a:prstGeom prst="line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화살표: 갈매기형 수장 27">
            <a:extLst>
              <a:ext uri="{FF2B5EF4-FFF2-40B4-BE49-F238E27FC236}">
                <a16:creationId xmlns:a16="http://schemas.microsoft.com/office/drawing/2014/main" id="{D0D07E84-5E26-C998-46CE-B60ABF32843C}"/>
              </a:ext>
            </a:extLst>
          </p:cNvPr>
          <p:cNvSpPr/>
          <p:nvPr/>
        </p:nvSpPr>
        <p:spPr>
          <a:xfrm>
            <a:off x="8867913" y="5947189"/>
            <a:ext cx="328850" cy="276260"/>
          </a:xfrm>
          <a:prstGeom prst="chevron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74C4E9"/>
              </a:gs>
              <a:gs pos="72000">
                <a:srgbClr val="A2D8F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3577D7-3844-0975-47DF-026A40FABAA7}"/>
              </a:ext>
            </a:extLst>
          </p:cNvPr>
          <p:cNvSpPr txBox="1"/>
          <p:nvPr/>
        </p:nvSpPr>
        <p:spPr>
          <a:xfrm>
            <a:off x="9241379" y="5905655"/>
            <a:ext cx="2328007" cy="374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Q. </a:t>
            </a:r>
            <a:r>
              <a:rPr lang="ko-KR" altLang="en-US" b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과연 유효한 값일까</a:t>
            </a:r>
            <a:r>
              <a:rPr lang="en-US" altLang="ko-KR" b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?</a:t>
            </a:r>
            <a:endParaRPr lang="ko-KR" altLang="en-US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5305BB0-03EF-4694-3616-7D0AAFD8453C}"/>
              </a:ext>
            </a:extLst>
          </p:cNvPr>
          <p:cNvCxnSpPr>
            <a:cxnSpLocks/>
          </p:cNvCxnSpPr>
          <p:nvPr/>
        </p:nvCxnSpPr>
        <p:spPr>
          <a:xfrm flipV="1">
            <a:off x="6042025" y="1475600"/>
            <a:ext cx="534348" cy="483375"/>
          </a:xfrm>
          <a:prstGeom prst="straightConnector1">
            <a:avLst/>
          </a:prstGeom>
          <a:ln w="28575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5405926A-7279-2AF3-1249-46B8C0661A37}"/>
              </a:ext>
            </a:extLst>
          </p:cNvPr>
          <p:cNvCxnSpPr>
            <a:cxnSpLocks/>
          </p:cNvCxnSpPr>
          <p:nvPr/>
        </p:nvCxnSpPr>
        <p:spPr>
          <a:xfrm flipV="1">
            <a:off x="6042025" y="3404510"/>
            <a:ext cx="534348" cy="241688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064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B8401-32A2-1085-A1BB-3114F0B39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712D52-6D07-FBD3-A114-93146E9BE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4.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기압고도계 설계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- 1</a:t>
            </a:r>
            <a:endParaRPr lang="ko-KR" altLang="en-US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735418-3E15-7DF5-690E-4FC1DE92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z="180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6</a:t>
            </a:fld>
            <a:endParaRPr lang="ko-KR" altLang="en-US" sz="18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0D4E313-4E1C-6D04-D204-8BD7C32BF20A}"/>
              </a:ext>
            </a:extLst>
          </p:cNvPr>
          <p:cNvSpPr txBox="1">
            <a:spLocks/>
          </p:cNvSpPr>
          <p:nvPr/>
        </p:nvSpPr>
        <p:spPr>
          <a:xfrm>
            <a:off x="437745" y="1400525"/>
            <a:ext cx="7104283" cy="598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서울남산체 M" panose="02020503020101020101" pitchFamily="18" charset="-127"/>
                <a:ea typeface="서울남산체 M" panose="020205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등온층유도 기본가정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514350" indent="-514350">
              <a:lnSpc>
                <a:spcPct val="110000"/>
              </a:lnSpc>
              <a:buFont typeface="Wingdings 2" pitchFamily="18" charset="2"/>
              <a:buAutoNum type="arabicPeriod"/>
            </a:pP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A2A297-05B9-B087-3BEE-738F908B06AF}"/>
                  </a:ext>
                </a:extLst>
              </p:cNvPr>
              <p:cNvSpPr txBox="1"/>
              <p:nvPr/>
            </p:nvSpPr>
            <p:spPr>
              <a:xfrm>
                <a:off x="1084521" y="2617461"/>
                <a:ext cx="2176954" cy="793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r>
                        <a:rPr lang="ko-KR" altLang="en-US" sz="240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ko-KR" altLang="en-US" sz="240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ko-KR" altLang="en-US" sz="240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ko-KR" altLang="en-US" sz="24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A2A297-05B9-B087-3BEE-738F908B0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521" y="2617461"/>
                <a:ext cx="2176954" cy="7935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2749596-3BA5-2CC9-F5F5-B5B00B0336E6}"/>
              </a:ext>
            </a:extLst>
          </p:cNvPr>
          <p:cNvSpPr txBox="1"/>
          <p:nvPr/>
        </p:nvSpPr>
        <p:spPr>
          <a:xfrm>
            <a:off x="3260650" y="2821520"/>
            <a:ext cx="2835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대기 정역학 방정식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C5E621-2A32-0790-3CC8-C011EC1D9B7C}"/>
              </a:ext>
            </a:extLst>
          </p:cNvPr>
          <p:cNvSpPr txBox="1"/>
          <p:nvPr/>
        </p:nvSpPr>
        <p:spPr>
          <a:xfrm>
            <a:off x="3176388" y="3832088"/>
            <a:ext cx="3422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이상 기체 상태 방정식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0E0261-D71B-E0EF-CF4C-51F4FE52E913}"/>
                  </a:ext>
                </a:extLst>
              </p:cNvPr>
              <p:cNvSpPr txBox="1"/>
              <p:nvPr/>
            </p:nvSpPr>
            <p:spPr>
              <a:xfrm>
                <a:off x="1084521" y="3718404"/>
                <a:ext cx="1595540" cy="6890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240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ko-KR" alt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  <m:t>𝑀𝑃</m:t>
                          </m:r>
                        </m:num>
                        <m:den>
                          <m:sSup>
                            <m:sSupPr>
                              <m:ctrlPr>
                                <a:rPr lang="ko-KR" alt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40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ko-KR" altLang="en-US" sz="240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ko-KR" altLang="en-US" sz="240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0E0261-D71B-E0EF-CF4C-51F4FE52E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521" y="3718404"/>
                <a:ext cx="1595540" cy="6890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FDB7878-0F50-3AC5-02C8-0BED73511197}"/>
                  </a:ext>
                </a:extLst>
              </p:cNvPr>
              <p:cNvSpPr txBox="1"/>
              <p:nvPr/>
            </p:nvSpPr>
            <p:spPr>
              <a:xfrm>
                <a:off x="7796192" y="2501817"/>
                <a:ext cx="3338789" cy="781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ko-KR" altLang="en-US" sz="2400" i="1" smtClean="0">
                          <a:latin typeface="Cambria Math" panose="02040503050406030204" pitchFamily="18" charset="0"/>
                        </a:rPr>
                        <m:t>𝑑</m:t>
                      </m:r>
                      <m:func>
                        <m:func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</m:func>
                      <m:r>
                        <a:rPr lang="ko-KR" altLang="en-US" sz="240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sSup>
                            <m:sSupPr>
                              <m:ctrlPr>
                                <a:rPr lang="ko-KR" alt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40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ko-KR" altLang="en-US" sz="240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ko-KR" altLang="en-US" sz="240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ko-KR" altLang="en-US" sz="240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FDB7878-0F50-3AC5-02C8-0BED73511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192" y="2501817"/>
                <a:ext cx="3338789" cy="7813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2D4DFFE2-669E-FA1C-3F35-E5DB9AB06CEE}"/>
              </a:ext>
            </a:extLst>
          </p:cNvPr>
          <p:cNvSpPr txBox="1"/>
          <p:nvPr/>
        </p:nvSpPr>
        <p:spPr>
          <a:xfrm>
            <a:off x="7095601" y="3718404"/>
            <a:ext cx="47399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위 식들을 결합하여</a:t>
            </a:r>
            <a:r>
              <a:rPr lang="en-US" altLang="ko-KR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</a:t>
            </a:r>
            <a:br>
              <a:rPr lang="en-US" altLang="ko-KR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ko-KR" altLang="en-US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온도</a:t>
            </a:r>
            <a:r>
              <a:rPr lang="en-US" altLang="ko-KR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기압</a:t>
            </a:r>
            <a:r>
              <a:rPr lang="en-US" altLang="ko-KR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고도의 관계로 정리</a:t>
            </a:r>
          </a:p>
        </p:txBody>
      </p:sp>
      <p:sp>
        <p:nvSpPr>
          <p:cNvPr id="16" name="화살표: 갈매기형 수장 15">
            <a:extLst>
              <a:ext uri="{FF2B5EF4-FFF2-40B4-BE49-F238E27FC236}">
                <a16:creationId xmlns:a16="http://schemas.microsoft.com/office/drawing/2014/main" id="{AE0F3908-7DFF-C772-906D-CD70451C9DA5}"/>
              </a:ext>
            </a:extLst>
          </p:cNvPr>
          <p:cNvSpPr/>
          <p:nvPr/>
        </p:nvSpPr>
        <p:spPr>
          <a:xfrm>
            <a:off x="6418519" y="3152740"/>
            <a:ext cx="815164" cy="684803"/>
          </a:xfrm>
          <a:prstGeom prst="chevron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74C4E9"/>
              </a:gs>
              <a:gs pos="72000">
                <a:srgbClr val="A2D8F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942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B5695-8E22-56EF-2137-D7B8F975B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3E4531-266B-E794-0E8F-FD3E33603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4.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기압고도계 설계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- 2</a:t>
            </a:r>
            <a:endParaRPr lang="ko-KR" altLang="en-US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76B570-A37F-E9A2-A390-BC5B965AE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z="180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7</a:t>
            </a:fld>
            <a:endParaRPr lang="ko-KR" altLang="en-US" sz="18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12E135-B66D-C240-ADB4-3635DFA9A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744" y="1400572"/>
            <a:ext cx="10641381" cy="605437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등온층 가정식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03BDF4A-4B9D-B949-2FCA-FF135534FB51}"/>
                  </a:ext>
                </a:extLst>
              </p:cNvPr>
              <p:cNvSpPr txBox="1"/>
              <p:nvPr/>
            </p:nvSpPr>
            <p:spPr>
              <a:xfrm>
                <a:off x="3798697" y="2374502"/>
                <a:ext cx="42500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400"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정역학 방정식을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i="1" dirty="0" smtClean="0">
                        <a:latin typeface="Cambria Math" panose="02040503050406030204" pitchFamily="18" charset="0"/>
                        <a:ea typeface="현대하모니 L" panose="02020603020101020101" pitchFamily="18" charset="-127"/>
                      </a:rPr>
                      <m:t>ln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  <a:ea typeface="현대하모니 L" panose="02020603020101020101" pitchFamily="18" charset="-127"/>
                      </a:rPr>
                      <m:t>𝑃</m:t>
                    </m:r>
                  </m:oMath>
                </a14:m>
                <a:r>
                  <a:rPr lang="ko-KR" altLang="en-US" sz="2400"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로 미분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03BDF4A-4B9D-B949-2FCA-FF135534F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8697" y="2374502"/>
                <a:ext cx="4250023" cy="461665"/>
              </a:xfrm>
              <a:prstGeom prst="rect">
                <a:avLst/>
              </a:prstGeom>
              <a:blipFill>
                <a:blip r:embed="rId2"/>
                <a:stretch>
                  <a:fillRect l="-2152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467BB5F-F875-3CE1-4525-39E9E1D702CC}"/>
              </a:ext>
            </a:extLst>
          </p:cNvPr>
          <p:cNvSpPr txBox="1"/>
          <p:nvPr/>
        </p:nvSpPr>
        <p:spPr>
          <a:xfrm>
            <a:off x="4290122" y="3399361"/>
            <a:ext cx="3950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등온층 지수형태 </a:t>
            </a:r>
            <a:r>
              <a:rPr lang="en-US" altLang="ko-KR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압력</a:t>
            </a:r>
            <a:r>
              <a:rPr lang="en-US" altLang="ko-KR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endParaRPr lang="ko-KR" altLang="en-US" sz="24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8E8CB9-70C6-7C6A-9559-E6CDED3BAFFC}"/>
                  </a:ext>
                </a:extLst>
              </p:cNvPr>
              <p:cNvSpPr txBox="1"/>
              <p:nvPr/>
            </p:nvSpPr>
            <p:spPr>
              <a:xfrm>
                <a:off x="1084521" y="2246968"/>
                <a:ext cx="2308068" cy="716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ko-KR" alt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ko-KR" alt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ko-KR" altLang="en-US" sz="2400" b="0" i="0" smtClean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ko-KR" altLang="en-US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ko-KR" alt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r>
                        <a:rPr lang="ko-KR" alt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ko-KR" alt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sSup>
                            <m:sSupPr>
                              <m:ctrlPr>
                                <a:rPr lang="ko-KR" alt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ko-KR" alt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ko-KR" alt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ko-KR" altLang="en-US" sz="240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8E8CB9-70C6-7C6A-9559-E6CDED3BA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521" y="2246968"/>
                <a:ext cx="2308068" cy="716735"/>
              </a:xfrm>
              <a:prstGeom prst="rect">
                <a:avLst/>
              </a:prstGeom>
              <a:blipFill>
                <a:blip r:embed="rId3"/>
                <a:stretch>
                  <a:fillRect l="-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B69BFCD-94A8-C216-AE10-2823FE5CE469}"/>
                  </a:ext>
                </a:extLst>
              </p:cNvPr>
              <p:cNvSpPr txBox="1"/>
              <p:nvPr/>
            </p:nvSpPr>
            <p:spPr>
              <a:xfrm>
                <a:off x="1084521" y="3245133"/>
                <a:ext cx="3057825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ko-KR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ko-KR" alt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ko-KR" alt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ko-KR" altLang="en-US" sz="24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ko-KR" alt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ko-KR" alt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ko-KR" alt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ko-KR" altLang="en-US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ko-KR" altLang="en-US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240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B69BFCD-94A8-C216-AE10-2823FE5CE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521" y="3245133"/>
                <a:ext cx="3057825" cy="8298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E354E88-531C-6F2D-1B75-77A3B9920EA8}"/>
                  </a:ext>
                </a:extLst>
              </p:cNvPr>
              <p:cNvSpPr txBox="1"/>
              <p:nvPr/>
            </p:nvSpPr>
            <p:spPr>
              <a:xfrm>
                <a:off x="1084521" y="4356406"/>
                <a:ext cx="3042179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ko-KR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ko-KR" alt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ko-KR" alt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ko-KR" altLang="en-US" sz="24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ko-KR" alt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ko-KR" alt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ko-KR" alt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ko-KR" altLang="en-US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ko-KR" altLang="en-US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240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E354E88-531C-6F2D-1B75-77A3B9920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521" y="4356406"/>
                <a:ext cx="3042179" cy="8298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1B1D261-FC21-984A-B423-E7FC6F71543A}"/>
              </a:ext>
            </a:extLst>
          </p:cNvPr>
          <p:cNvSpPr txBox="1"/>
          <p:nvPr/>
        </p:nvSpPr>
        <p:spPr>
          <a:xfrm>
            <a:off x="4290122" y="4540494"/>
            <a:ext cx="3206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등온층 지수형태 </a:t>
            </a:r>
            <a:r>
              <a:rPr lang="en-US" altLang="ko-KR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밀도</a:t>
            </a:r>
            <a:r>
              <a:rPr lang="en-US" altLang="ko-KR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endParaRPr lang="ko-KR" altLang="en-US" sz="24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D3B5C0-C60B-55E1-F7E0-C87A066CDE1C}"/>
                  </a:ext>
                </a:extLst>
              </p:cNvPr>
              <p:cNvSpPr txBox="1"/>
              <p:nvPr/>
            </p:nvSpPr>
            <p:spPr>
              <a:xfrm>
                <a:off x="8240529" y="2997157"/>
                <a:ext cx="3843779" cy="922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ko-KR" altLang="en-US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ko-KR" alt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ko-KR" altLang="en-US" sz="2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ko-KR" altLang="en-US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ko-KR" alt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ko-KR" alt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400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ko-KR" altLang="en-US" sz="2400" b="1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sSub>
                            <m:sSubPr>
                              <m:ctrlPr>
                                <a:rPr lang="ko-KR" alt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ko-KR" altLang="en-US" sz="24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ko-KR" altLang="en-US" sz="2400" b="1" i="1" smtClean="0">
                              <a:latin typeface="Cambria Math" panose="02040503050406030204" pitchFamily="18" charset="0"/>
                            </a:rPr>
                            <m:t>𝒈𝑴</m:t>
                          </m:r>
                        </m:den>
                      </m:f>
                      <m:func>
                        <m:funcPr>
                          <m:ctrlPr>
                            <a:rPr lang="ko-KR" altLang="en-US" sz="2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ko-KR" altLang="en-US" sz="2400" b="1" i="1" smtClean="0">
                              <a:latin typeface="Cambria Math" panose="02040503050406030204" pitchFamily="18" charset="0"/>
                            </a:rPr>
                            <m:t>𝒍𝒏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24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ko-KR" altLang="en-US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𝑷</m:t>
                                      </m:r>
                                    </m:e>
                                    <m:sub>
                                      <m:r>
                                        <a:rPr lang="ko-KR" altLang="en-US" sz="24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2400" b="1" i="1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D3B5C0-C60B-55E1-F7E0-C87A066CD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529" y="2997157"/>
                <a:ext cx="3843779" cy="9221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8949824-7562-CA97-9AA7-F6C33EDA72FF}"/>
              </a:ext>
            </a:extLst>
          </p:cNvPr>
          <p:cNvSpPr txBox="1"/>
          <p:nvPr/>
        </p:nvSpPr>
        <p:spPr>
          <a:xfrm>
            <a:off x="8538365" y="2472573"/>
            <a:ext cx="346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현대하모니 L" panose="02020603020101020101" pitchFamily="18" charset="-127"/>
                <a:ea typeface="현대하모니 L" panose="02020603020101020101" pitchFamily="18" charset="-127"/>
              </a:rPr>
              <a:t>등온층 고도 계산 식</a:t>
            </a:r>
          </a:p>
        </p:txBody>
      </p:sp>
      <p:sp>
        <p:nvSpPr>
          <p:cNvPr id="24" name="화살표: 갈매기형 수장 23">
            <a:extLst>
              <a:ext uri="{FF2B5EF4-FFF2-40B4-BE49-F238E27FC236}">
                <a16:creationId xmlns:a16="http://schemas.microsoft.com/office/drawing/2014/main" id="{7EC3605C-769D-58AD-2890-CF84BC9C7B6A}"/>
              </a:ext>
            </a:extLst>
          </p:cNvPr>
          <p:cNvSpPr/>
          <p:nvPr/>
        </p:nvSpPr>
        <p:spPr>
          <a:xfrm>
            <a:off x="7441011" y="2773781"/>
            <a:ext cx="815164" cy="684803"/>
          </a:xfrm>
          <a:prstGeom prst="chevron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74C4E9"/>
              </a:gs>
              <a:gs pos="72000">
                <a:srgbClr val="A2D8F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E65533-6A71-6F1F-BCAD-F10BF84BAB6E}"/>
              </a:ext>
            </a:extLst>
          </p:cNvPr>
          <p:cNvSpPr txBox="1"/>
          <p:nvPr/>
        </p:nvSpPr>
        <p:spPr>
          <a:xfrm>
            <a:off x="7765256" y="4357940"/>
            <a:ext cx="41290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그러나</a:t>
            </a:r>
            <a:r>
              <a:rPr lang="en-US" altLang="ko-KR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2400">
                <a:solidFill>
                  <a:srgbClr val="0070C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대류층</a:t>
            </a:r>
            <a:r>
              <a:rPr lang="ko-KR" altLang="en-US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에 속해 있으므로</a:t>
            </a:r>
            <a:r>
              <a:rPr lang="en-US" altLang="ko-KR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2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등온층 가정식이 </a:t>
            </a:r>
            <a:r>
              <a:rPr lang="ko-KR" altLang="en-US" sz="2400"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성립하지 않음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AC1347-D7F1-9D11-EC65-E49BBB75A164}"/>
              </a:ext>
            </a:extLst>
          </p:cNvPr>
          <p:cNvSpPr txBox="1"/>
          <p:nvPr/>
        </p:nvSpPr>
        <p:spPr>
          <a:xfrm>
            <a:off x="7765256" y="5681627"/>
            <a:ext cx="4129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등온층이 아닌 경우에 대해 수식이 필요</a:t>
            </a:r>
          </a:p>
        </p:txBody>
      </p:sp>
      <p:sp>
        <p:nvSpPr>
          <p:cNvPr id="27" name="화살표: 아래쪽 26">
            <a:extLst>
              <a:ext uri="{FF2B5EF4-FFF2-40B4-BE49-F238E27FC236}">
                <a16:creationId xmlns:a16="http://schemas.microsoft.com/office/drawing/2014/main" id="{E3292179-F63E-1AC1-390F-2733BF47537A}"/>
              </a:ext>
            </a:extLst>
          </p:cNvPr>
          <p:cNvSpPr/>
          <p:nvPr/>
        </p:nvSpPr>
        <p:spPr>
          <a:xfrm rot="16200000">
            <a:off x="7446869" y="5720603"/>
            <a:ext cx="286264" cy="350509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71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C023A-C8AE-EF2D-E88B-387A3F70C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1988F6-7060-AAC2-CCF7-9B7710AC8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4.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기압고도계 설계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- 3</a:t>
            </a:r>
            <a:endParaRPr lang="ko-KR" altLang="en-US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FEC454-54BD-CBEB-485B-5F4BE4F7B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z="180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8</a:t>
            </a:fld>
            <a:endParaRPr lang="ko-KR" altLang="en-US" sz="18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F7AA7F-8DB9-FAC1-0AE4-55A13FA15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744" y="1400572"/>
            <a:ext cx="10641381" cy="605437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등온층이 아닌 경우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고도에 따른 온도변화 식으로부터 유도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</p:txBody>
      </p:sp>
      <p:sp>
        <p:nvSpPr>
          <p:cNvPr id="24" name="화살표: 갈매기형 수장 23">
            <a:extLst>
              <a:ext uri="{FF2B5EF4-FFF2-40B4-BE49-F238E27FC236}">
                <a16:creationId xmlns:a16="http://schemas.microsoft.com/office/drawing/2014/main" id="{DC8F0E8A-B105-0D5D-8F4C-F49FDBE02026}"/>
              </a:ext>
            </a:extLst>
          </p:cNvPr>
          <p:cNvSpPr/>
          <p:nvPr/>
        </p:nvSpPr>
        <p:spPr>
          <a:xfrm>
            <a:off x="6237975" y="3351958"/>
            <a:ext cx="815164" cy="684803"/>
          </a:xfrm>
          <a:prstGeom prst="chevron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74C4E9"/>
              </a:gs>
              <a:gs pos="72000">
                <a:srgbClr val="A2D8F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21DF4A-7F34-04FD-5A73-444D8DA05EE4}"/>
              </a:ext>
            </a:extLst>
          </p:cNvPr>
          <p:cNvSpPr txBox="1"/>
          <p:nvPr/>
        </p:nvSpPr>
        <p:spPr>
          <a:xfrm>
            <a:off x="5637229" y="297415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BD235F-6D9F-0154-B00C-EE5B6D04E344}"/>
              </a:ext>
            </a:extLst>
          </p:cNvPr>
          <p:cNvSpPr txBox="1"/>
          <p:nvPr/>
        </p:nvSpPr>
        <p:spPr>
          <a:xfrm>
            <a:off x="3457004" y="2138796"/>
            <a:ext cx="27809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고도에 따른 온도의 선형적 변화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4F476C8-D05B-9FDC-977E-62855C7DFDFB}"/>
                  </a:ext>
                </a:extLst>
              </p:cNvPr>
              <p:cNvSpPr txBox="1"/>
              <p:nvPr/>
            </p:nvSpPr>
            <p:spPr>
              <a:xfrm>
                <a:off x="1084521" y="2296741"/>
                <a:ext cx="287462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ko-KR" altLang="en-US" sz="2000" i="0" smtClean="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ko-KR" altLang="en-US" sz="200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4F476C8-D05B-9FDC-977E-62855C7DF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521" y="2296741"/>
                <a:ext cx="2874625" cy="307777"/>
              </a:xfrm>
              <a:prstGeom prst="rect">
                <a:avLst/>
              </a:prstGeom>
              <a:blipFill>
                <a:blip r:embed="rId2"/>
                <a:stretch>
                  <a:fillRect l="-3185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AF20FA9-8D90-F1D0-96F5-0097970FA3C4}"/>
                  </a:ext>
                </a:extLst>
              </p:cNvPr>
              <p:cNvSpPr txBox="1"/>
              <p:nvPr/>
            </p:nvSpPr>
            <p:spPr>
              <a:xfrm>
                <a:off x="1087978" y="2846682"/>
                <a:ext cx="1807290" cy="8642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ko-KR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ko-KR" alt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ko-KR" alt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ko-KR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ko-KR" alt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0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ko-KR" alt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20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ko-KR" altLang="en-US" sz="20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ko-KR" altLang="en-US" sz="2000" b="0" i="0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ko-KR" altLang="en-US" sz="200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AF20FA9-8D90-F1D0-96F5-0097970FA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978" y="2846682"/>
                <a:ext cx="1807290" cy="8642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C3EF1D9A-C15C-71D6-4E9F-9B51B371BEB3}"/>
              </a:ext>
            </a:extLst>
          </p:cNvPr>
          <p:cNvSpPr txBox="1"/>
          <p:nvPr/>
        </p:nvSpPr>
        <p:spPr>
          <a:xfrm>
            <a:off x="3457004" y="3149011"/>
            <a:ext cx="25196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온도 변화에 따른 기압변화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F59235D-C0BF-1A90-19E9-028A0E3A39C0}"/>
                  </a:ext>
                </a:extLst>
              </p:cNvPr>
              <p:cNvSpPr txBox="1"/>
              <p:nvPr/>
            </p:nvSpPr>
            <p:spPr>
              <a:xfrm>
                <a:off x="1084521" y="3986861"/>
                <a:ext cx="2884512" cy="862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altLang="ko-KR" sz="2000" i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den>
                          </m:f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ko-KR" altLang="en-US" sz="200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F59235D-C0BF-1A90-19E9-028A0E3A3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521" y="3986861"/>
                <a:ext cx="2884512" cy="8622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D1031A0C-0E2C-D58A-5F84-F30BC8183ED9}"/>
              </a:ext>
            </a:extLst>
          </p:cNvPr>
          <p:cNvSpPr txBox="1"/>
          <p:nvPr/>
        </p:nvSpPr>
        <p:spPr>
          <a:xfrm>
            <a:off x="3456125" y="4228167"/>
            <a:ext cx="24442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온도 변화에 따른 밀도변화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52AE023-C386-1EAB-488E-0B7A068E66B6}"/>
                  </a:ext>
                </a:extLst>
              </p:cNvPr>
              <p:cNvSpPr txBox="1"/>
              <p:nvPr/>
            </p:nvSpPr>
            <p:spPr>
              <a:xfrm>
                <a:off x="1084521" y="5250638"/>
                <a:ext cx="1086003" cy="585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0" smtClean="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</m:oMath>
                  </m:oMathPara>
                </a14:m>
                <a:endParaRPr lang="ko-KR" altLang="en-US" sz="200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52AE023-C386-1EAB-488E-0B7A068E6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521" y="5250638"/>
                <a:ext cx="1086003" cy="5852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F475A9CD-D97A-06C9-3800-A37462AE9E33}"/>
              </a:ext>
            </a:extLst>
          </p:cNvPr>
          <p:cNvSpPr txBox="1"/>
          <p:nvPr/>
        </p:nvSpPr>
        <p:spPr>
          <a:xfrm>
            <a:off x="3456125" y="5301347"/>
            <a:ext cx="35501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온도 감률</a:t>
            </a:r>
            <a:endParaRPr lang="en-US" altLang="ko-KR" sz="20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r>
              <a:rPr lang="en-US" altLang="ko-KR" sz="20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20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고도변화에 따른 온도변화율</a:t>
            </a:r>
            <a:r>
              <a:rPr lang="en-US" altLang="ko-KR" sz="20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r>
              <a:rPr lang="ko-KR" altLang="en-US" sz="20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C599ECD-51C6-8709-396D-202FBEFC519E}"/>
                  </a:ext>
                </a:extLst>
              </p:cNvPr>
              <p:cNvSpPr txBox="1"/>
              <p:nvPr/>
            </p:nvSpPr>
            <p:spPr>
              <a:xfrm>
                <a:off x="7856670" y="2102200"/>
                <a:ext cx="3562068" cy="8892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ko-KR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ko-KR" altLang="en-US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ko-KR" altLang="en-US" sz="200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sup>
                      </m:sSup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ko-KR" altLang="en-US" sz="2000" i="0" smtClean="0">
                          <a:latin typeface="Cambria Math" panose="02040503050406030204" pitchFamily="18" charset="0"/>
                        </a:rPr>
                        <m:t>Γ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200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C599ECD-51C6-8709-396D-202FBEFC5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6670" y="2102200"/>
                <a:ext cx="3562068" cy="8892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B343712-352F-6B03-41CD-32858658EA8C}"/>
                  </a:ext>
                </a:extLst>
              </p:cNvPr>
              <p:cNvSpPr txBox="1"/>
              <p:nvPr/>
            </p:nvSpPr>
            <p:spPr>
              <a:xfrm>
                <a:off x="7856670" y="3058544"/>
                <a:ext cx="3562068" cy="9782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ko-KR" altLang="en-US" sz="2000" i="0" smtClean="0">
                          <a:latin typeface="Cambria Math" panose="02040503050406030204" pitchFamily="18" charset="0"/>
                        </a:rPr>
                        <m:t>Γ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ko-KR" alt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ko-KR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ko-KR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ko-KR" altLang="en-US" sz="20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ko-KR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20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ko-KR" altLang="en-US" sz="2000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ko-KR" altLang="en-US" sz="2000">
                                      <a:latin typeface="Cambria Math" panose="02040503050406030204" pitchFamily="18" charset="0"/>
                                    </a:rPr>
                                    <m:t>Γ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0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200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B343712-352F-6B03-41CD-32858658E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6670" y="3058544"/>
                <a:ext cx="3562068" cy="97821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화살표: 아래쪽 38">
            <a:extLst>
              <a:ext uri="{FF2B5EF4-FFF2-40B4-BE49-F238E27FC236}">
                <a16:creationId xmlns:a16="http://schemas.microsoft.com/office/drawing/2014/main" id="{EC0FF6E7-634E-B488-F977-F5EE532A1A21}"/>
              </a:ext>
            </a:extLst>
          </p:cNvPr>
          <p:cNvSpPr/>
          <p:nvPr/>
        </p:nvSpPr>
        <p:spPr>
          <a:xfrm>
            <a:off x="9371874" y="4228167"/>
            <a:ext cx="531659" cy="492430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D1EC580-0214-BCA9-F04D-CFD63CCD2C12}"/>
                  </a:ext>
                </a:extLst>
              </p:cNvPr>
              <p:cNvSpPr txBox="1"/>
              <p:nvPr/>
            </p:nvSpPr>
            <p:spPr>
              <a:xfrm>
                <a:off x="7582916" y="4849085"/>
                <a:ext cx="4199868" cy="11738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ko-KR" sz="24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altLang="ko-KR" sz="24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ko-KR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ko-KR" sz="2400" b="1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altLang="ko-KR" sz="24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400" b="1" i="0">
                              <a:latin typeface="Cambria Math" panose="02040503050406030204" pitchFamily="18" charset="0"/>
                            </a:rPr>
                            <m:t>𝚪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ko-KR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ko-KR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2400" b="1" i="1">
                                          <a:latin typeface="Cambria Math" panose="02040503050406030204" pitchFamily="18" charset="0"/>
                                        </a:rPr>
                                        <m:t>𝑷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ko-KR" sz="2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400" b="1" i="1">
                                              <a:latin typeface="Cambria Math" panose="02040503050406030204" pitchFamily="18" charset="0"/>
                                            </a:rPr>
                                            <m:t>𝑷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400" b="1" i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ko-KR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ko-KR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4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p>
                                      <m:r>
                                        <a:rPr lang="en-US" altLang="ko-KR" sz="2400" b="1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altLang="ko-KR" sz="2400" b="1">
                                      <a:latin typeface="Cambria Math" panose="02040503050406030204" pitchFamily="18" charset="0"/>
                                    </a:rPr>
                                    <m:t>𝚪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b="1" i="1">
                                          <a:latin typeface="Cambria Math" panose="02040503050406030204" pitchFamily="18" charset="0"/>
                                        </a:rPr>
                                        <m:t>𝒈</m:t>
                                      </m:r>
                                    </m:e>
                                    <m:sub>
                                      <m:r>
                                        <a:rPr lang="en-US" altLang="ko-KR" sz="24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  <m:r>
                                    <a:rPr lang="en-US" altLang="ko-KR" sz="2400" b="1" i="1">
                                      <a:latin typeface="Cambria Math" panose="02040503050406030204" pitchFamily="18" charset="0"/>
                                    </a:rPr>
                                    <m:t>𝑴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2400" b="1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D1EC580-0214-BCA9-F04D-CFD63CCD2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916" y="4849085"/>
                <a:ext cx="4199868" cy="117384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EE91BDBE-68CB-18E8-DD74-40E6163BE1EB}"/>
              </a:ext>
            </a:extLst>
          </p:cNvPr>
          <p:cNvSpPr txBox="1"/>
          <p:nvPr/>
        </p:nvSpPr>
        <p:spPr>
          <a:xfrm>
            <a:off x="7582917" y="4701881"/>
            <a:ext cx="1908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현대하모니 L" panose="02020603020101020101" pitchFamily="18" charset="-127"/>
                <a:ea typeface="현대하모니 L" panose="02020603020101020101" pitchFamily="18" charset="-127"/>
              </a:rPr>
              <a:t>최종 고도 계산 식</a:t>
            </a:r>
          </a:p>
        </p:txBody>
      </p:sp>
    </p:spTree>
    <p:extLst>
      <p:ext uri="{BB962C8B-B14F-4D97-AF65-F5344CB8AC3E}">
        <p14:creationId xmlns:p14="http://schemas.microsoft.com/office/powerpoint/2010/main" val="3041906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AE2AF-632F-D832-05A0-02F1E3C7D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4884AD-DD36-0825-E24E-226491C45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4.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기압고도계 설계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– 4 (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부록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lang="ko-KR" altLang="en-US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555014-8CF4-48DE-FDCD-D54D18C83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z="180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9</a:t>
            </a:fld>
            <a:endParaRPr lang="ko-KR" altLang="en-US" sz="18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FBA37E-934D-E66F-7886-2BBBC2593E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61542" b="21798"/>
          <a:stretch>
            <a:fillRect/>
          </a:stretch>
        </p:blipFill>
        <p:spPr>
          <a:xfrm>
            <a:off x="6469921" y="2669328"/>
            <a:ext cx="3844407" cy="100053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F2E3EA8-EF3F-4415-D490-041C9C0259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169"/>
          <a:stretch>
            <a:fillRect/>
          </a:stretch>
        </p:blipFill>
        <p:spPr>
          <a:xfrm>
            <a:off x="947000" y="2669328"/>
            <a:ext cx="3781425" cy="104775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A77C7C3-35B8-AAE7-841A-F9197C542F7C}"/>
              </a:ext>
            </a:extLst>
          </p:cNvPr>
          <p:cNvSpPr/>
          <p:nvPr/>
        </p:nvSpPr>
        <p:spPr>
          <a:xfrm>
            <a:off x="7437828" y="3274766"/>
            <a:ext cx="480017" cy="192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324F07D-D48E-7604-9DCD-0AD3F41F4421}"/>
              </a:ext>
            </a:extLst>
          </p:cNvPr>
          <p:cNvSpPr/>
          <p:nvPr/>
        </p:nvSpPr>
        <p:spPr>
          <a:xfrm>
            <a:off x="4315659" y="3466822"/>
            <a:ext cx="433137" cy="2021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9AB878-37CE-C014-8489-5B939208DD14}"/>
              </a:ext>
            </a:extLst>
          </p:cNvPr>
          <p:cNvSpPr txBox="1"/>
          <p:nvPr/>
        </p:nvSpPr>
        <p:spPr>
          <a:xfrm>
            <a:off x="1122282" y="2213850"/>
            <a:ext cx="8652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두 값이 같으므로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Google Earth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에서 제공하는 뉴턴홀의 고도를 참으로 가정하고 역산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FE470AF-50C7-E680-A56A-49F40A9559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3705"/>
          <a:stretch>
            <a:fillRect/>
          </a:stretch>
        </p:blipFill>
        <p:spPr>
          <a:xfrm>
            <a:off x="6469921" y="3755099"/>
            <a:ext cx="3844407" cy="196525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5FE4DCA-375B-2EB2-15F4-BE7EE03CF5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976" t="29026" r="29410" b="41416"/>
          <a:stretch>
            <a:fillRect/>
          </a:stretch>
        </p:blipFill>
        <p:spPr>
          <a:xfrm>
            <a:off x="947000" y="3755099"/>
            <a:ext cx="3781425" cy="196525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DC4DC63-53CC-47E1-46BE-15C1CC1DFE0B}"/>
              </a:ext>
            </a:extLst>
          </p:cNvPr>
          <p:cNvSpPr txBox="1"/>
          <p:nvPr/>
        </p:nvSpPr>
        <p:spPr>
          <a:xfrm>
            <a:off x="1122282" y="5833557"/>
            <a:ext cx="3430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Google Earth </a:t>
            </a:r>
            <a:r>
              <a:rPr lang="ko-KR" altLang="en-US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자료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50E0BD-E781-884B-1DDA-C986A99BE8F7}"/>
              </a:ext>
            </a:extLst>
          </p:cNvPr>
          <p:cNvSpPr txBox="1"/>
          <p:nvPr/>
        </p:nvSpPr>
        <p:spPr>
          <a:xfrm>
            <a:off x="6640217" y="5832982"/>
            <a:ext cx="3430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기상청날씨루리</a:t>
            </a:r>
            <a:r>
              <a:rPr lang="en-US" altLang="ko-KR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자료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2B9EA8A4-D03C-A42B-F220-2A27A36C9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688" y="1218242"/>
            <a:ext cx="10641381" cy="605437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*</a:t>
            </a:r>
            <a:r>
              <a:rPr lang="ko-KR" altLang="en-US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진고도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 기준 설정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FCE466-233F-2F1D-6C18-9E92E93707CF}"/>
              </a:ext>
            </a:extLst>
          </p:cNvPr>
          <p:cNvSpPr txBox="1"/>
          <p:nvPr/>
        </p:nvSpPr>
        <p:spPr>
          <a:xfrm>
            <a:off x="8500550" y="1222218"/>
            <a:ext cx="3843315" cy="875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대한민국의 표준으로 가정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뉴턴홀의 고도 값을 받아올 수 있음</a:t>
            </a:r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2DB1B5-C31A-FD7F-CBA1-82F396DF4E86}"/>
              </a:ext>
            </a:extLst>
          </p:cNvPr>
          <p:cNvSpPr txBox="1"/>
          <p:nvPr/>
        </p:nvSpPr>
        <p:spPr>
          <a:xfrm>
            <a:off x="3886564" y="1230811"/>
            <a:ext cx="4072270" cy="858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‘</a:t>
            </a:r>
            <a:r>
              <a:rPr lang="ko-KR" altLang="en-US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기상청날씨루리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’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에서 제공하는 고도 값</a:t>
            </a:r>
            <a:b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</a:b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‘Google Earth’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의 고도 값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9" name="화살표: 아래쪽 38">
            <a:extLst>
              <a:ext uri="{FF2B5EF4-FFF2-40B4-BE49-F238E27FC236}">
                <a16:creationId xmlns:a16="http://schemas.microsoft.com/office/drawing/2014/main" id="{2602ADA7-D692-1890-5D06-4BC500D9B49B}"/>
              </a:ext>
            </a:extLst>
          </p:cNvPr>
          <p:cNvSpPr/>
          <p:nvPr/>
        </p:nvSpPr>
        <p:spPr>
          <a:xfrm rot="16200000">
            <a:off x="7983546" y="1236467"/>
            <a:ext cx="286264" cy="53089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화살표: 아래쪽 39">
            <a:extLst>
              <a:ext uri="{FF2B5EF4-FFF2-40B4-BE49-F238E27FC236}">
                <a16:creationId xmlns:a16="http://schemas.microsoft.com/office/drawing/2014/main" id="{C3408AE1-1382-9288-7840-7EE0E79D5578}"/>
              </a:ext>
            </a:extLst>
          </p:cNvPr>
          <p:cNvSpPr/>
          <p:nvPr/>
        </p:nvSpPr>
        <p:spPr>
          <a:xfrm rot="16200000">
            <a:off x="7610582" y="1286789"/>
            <a:ext cx="286264" cy="1276820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41000">
                <a:srgbClr val="FF0000">
                  <a:alpha val="35000"/>
                </a:srgbClr>
              </a:gs>
              <a:gs pos="67000">
                <a:srgbClr val="FF0000">
                  <a:alpha val="68000"/>
                </a:srgbClr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793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AEEC7-E3F1-31B6-E779-EDBC3A479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BC935-5C2E-B7CC-6A76-F428C2F0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4.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기압고도계 설계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- 5</a:t>
            </a:r>
            <a:endParaRPr lang="ko-KR" altLang="en-US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AA1004-A3D1-3520-7146-AFBFD32D2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z="180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10</a:t>
            </a:fld>
            <a:endParaRPr lang="ko-KR" altLang="en-US" sz="18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6F7374B-43D1-E1F1-4BAE-A8DE2813B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688" y="1218242"/>
            <a:ext cx="10641381" cy="605437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해면 기압 보정 값 계산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- 1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AF2F3B8-78F4-82FB-E32C-E39FDD0FA05D}"/>
                  </a:ext>
                </a:extLst>
              </p:cNvPr>
              <p:cNvSpPr txBox="1"/>
              <p:nvPr/>
            </p:nvSpPr>
            <p:spPr>
              <a:xfrm>
                <a:off x="5322828" y="2430052"/>
                <a:ext cx="3664800" cy="1125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ko-KR" alt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400" i="1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ko-KR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ko-KR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ko-KR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ko-KR" altLang="en-US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ko-KR" alt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ko-KR" altLang="en-US" sz="24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ko-KR" altLang="en-US" sz="240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ko-KR" altLang="en-US" sz="240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AF2F3B8-78F4-82FB-E32C-E39FDD0FA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828" y="2430052"/>
                <a:ext cx="3664800" cy="1125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그룹 49">
            <a:extLst>
              <a:ext uri="{FF2B5EF4-FFF2-40B4-BE49-F238E27FC236}">
                <a16:creationId xmlns:a16="http://schemas.microsoft.com/office/drawing/2014/main" id="{F79415B4-1CA9-A05F-3EBC-C41D9B4F29E6}"/>
              </a:ext>
            </a:extLst>
          </p:cNvPr>
          <p:cNvGrpSpPr/>
          <p:nvPr/>
        </p:nvGrpSpPr>
        <p:grpSpPr>
          <a:xfrm>
            <a:off x="1864681" y="2785372"/>
            <a:ext cx="1928036" cy="1920949"/>
            <a:chOff x="1020726" y="1977656"/>
            <a:chExt cx="2114285" cy="19209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1">
                  <a:extLst>
                    <a:ext uri="{FF2B5EF4-FFF2-40B4-BE49-F238E27FC236}">
                      <a16:creationId xmlns:a16="http://schemas.microsoft.com/office/drawing/2014/main" id="{8D8469C1-AF7F-FDCE-31E5-9E43C8399F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80107" y="2158880"/>
                  <a:ext cx="1992719" cy="41549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0" rIns="91440" bIns="45720" numCol="1" rtlCol="0" anchor="ctr" anchorCtr="0" compatLnSpc="1">
                  <a:prstTxWarp prst="textNoShape">
                    <a:avLst/>
                  </a:prstTxWarp>
                  <a:spAutoFit/>
                </a:bodyPr>
                <a:lstStyle>
                  <a:lvl1pPr marL="228600" indent="-228600" algn="l" defTabSz="914400" rtl="0" eaLnBrk="1" latinLnBrk="1" hangingPunct="1">
                    <a:lnSpc>
                      <a:spcPct val="90000"/>
                    </a:lnSpc>
                    <a:spcBef>
                      <a:spcPts val="1000"/>
                    </a:spcBef>
                    <a:buFont typeface="Wingdings 2" pitchFamily="18" charset="2"/>
                    <a:buChar char=""/>
                    <a:defRPr sz="2800" kern="1200">
                      <a:solidFill>
                        <a:schemeClr val="tx1"/>
                      </a:solidFill>
                      <a:latin typeface="서울남산체 M" panose="02020503020101020101" pitchFamily="18" charset="-127"/>
                      <a:ea typeface="서울남산체 M" panose="02020503020101020101" pitchFamily="18" charset="-127"/>
                      <a:cs typeface="+mn-cs"/>
                    </a:defRPr>
                  </a:lvl1pPr>
                  <a:lvl2pPr marL="6858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Wingdings 2" pitchFamily="18" charset="2"/>
                    <a:buChar char=""/>
                    <a:defRPr sz="2400" kern="1200">
                      <a:solidFill>
                        <a:schemeClr val="tx1"/>
                      </a:solidFill>
                      <a:latin typeface="서울남산체 M" panose="02020503020101020101" pitchFamily="18" charset="-127"/>
                      <a:ea typeface="서울남산체 M" panose="02020503020101020101" pitchFamily="18" charset="-127"/>
                      <a:cs typeface="+mn-cs"/>
                    </a:defRPr>
                  </a:lvl2pPr>
                  <a:lvl3pPr marL="11430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Wingdings 2" pitchFamily="18" charset="2"/>
                    <a:buChar char=""/>
                    <a:defRPr sz="2000" kern="1200">
                      <a:solidFill>
                        <a:schemeClr val="tx1"/>
                      </a:solidFill>
                      <a:latin typeface="서울남산체 M" panose="02020503020101020101" pitchFamily="18" charset="-127"/>
                      <a:ea typeface="서울남산체 M" panose="02020503020101020101" pitchFamily="18" charset="-127"/>
                      <a:cs typeface="+mn-cs"/>
                    </a:defRPr>
                  </a:lvl3pPr>
                  <a:lvl4pPr marL="16002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Wingdings 2" pitchFamily="18" charset="2"/>
                    <a:buChar char=""/>
                    <a:defRPr sz="1800" kern="1200">
                      <a:solidFill>
                        <a:schemeClr val="tx1"/>
                      </a:solidFill>
                      <a:latin typeface="서울남산체 M" panose="02020503020101020101" pitchFamily="18" charset="-127"/>
                      <a:ea typeface="서울남산체 M" panose="02020503020101020101" pitchFamily="18" charset="-127"/>
                      <a:cs typeface="+mn-cs"/>
                    </a:defRPr>
                  </a:lvl4pPr>
                  <a:lvl5pPr marL="20574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Wingdings 2" pitchFamily="18" charset="2"/>
                    <a:buChar char=""/>
                    <a:defRPr sz="1800" kern="1200">
                      <a:solidFill>
                        <a:schemeClr val="tx1"/>
                      </a:solidFill>
                      <a:latin typeface="서울남산체 M" panose="02020503020101020101" pitchFamily="18" charset="-127"/>
                      <a:ea typeface="서울남산체 M" panose="02020503020101020101" pitchFamily="18" charset="-127"/>
                      <a:cs typeface="+mn-cs"/>
                    </a:defRPr>
                  </a:lvl5pPr>
                  <a:lvl6pPr marL="2514600" indent="-228600" algn="l" defTabSz="914400" rtl="0" eaLnBrk="1" latinLnBrk="1" hangingPunct="1">
                    <a:spcBef>
                      <a:spcPct val="20000"/>
                    </a:spcBef>
                    <a:buFont typeface="Wingdings 2" pitchFamily="18" charset="2"/>
                    <a:buChar char="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1" hangingPunct="1">
                    <a:spcBef>
                      <a:spcPct val="20000"/>
                    </a:spcBef>
                    <a:buFont typeface="Wingdings 2" pitchFamily="18" charset="2"/>
                    <a:buChar char="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1" hangingPunct="1">
                    <a:spcBef>
                      <a:spcPct val="20000"/>
                    </a:spcBef>
                    <a:buFont typeface="Wingdings 2" pitchFamily="18" charset="2"/>
                    <a:buChar char="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1" hangingPunct="1">
                    <a:spcBef>
                      <a:spcPct val="20000"/>
                    </a:spcBef>
                    <a:buFont typeface="Wingdings 2" pitchFamily="18" charset="2"/>
                    <a:buChar char="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Wingdings 2" pitchFamily="18" charset="2"/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ko-KR" altLang="ko-KR" sz="2400" i="1" dirty="0" smtClean="0">
                            <a:latin typeface="Cambria Math" panose="02040503050406030204" pitchFamily="18" charset="0"/>
                            <a:ea typeface="Google Sans Text"/>
                          </a:rPr>
                          <m:t>𝑇</m:t>
                        </m:r>
                        <m:r>
                          <a:rPr lang="ko-KR" altLang="ko-KR" sz="2400" i="1" dirty="0" smtClean="0">
                            <a:latin typeface="Cambria Math" panose="02040503050406030204" pitchFamily="18" charset="0"/>
                            <a:ea typeface="Google Sans Text"/>
                          </a:rPr>
                          <m:t>=</m:t>
                        </m:r>
                        <m:sSub>
                          <m:sSubPr>
                            <m:ctrlPr>
                              <a:rPr lang="ko-KR" altLang="ko-KR" sz="2400" i="1" dirty="0" smtClean="0">
                                <a:latin typeface="Cambria Math" panose="02040503050406030204" pitchFamily="18" charset="0"/>
                                <a:ea typeface="Google Sans Text"/>
                              </a:rPr>
                            </m:ctrlPr>
                          </m:sSubPr>
                          <m:e>
                            <m:r>
                              <a:rPr lang="ko-KR" altLang="ko-KR" sz="2400" i="1" dirty="0" smtClean="0">
                                <a:latin typeface="Cambria Math" panose="02040503050406030204" pitchFamily="18" charset="0"/>
                                <a:ea typeface="Google Sans Text"/>
                              </a:rPr>
                              <m:t>𝑇</m:t>
                            </m:r>
                          </m:e>
                          <m:sub>
                            <m:r>
                              <a:rPr lang="ko-KR" altLang="ko-KR" sz="2400" i="1" dirty="0" smtClean="0">
                                <a:latin typeface="Cambria Math" panose="02040503050406030204" pitchFamily="18" charset="0"/>
                                <a:ea typeface="Google Sans Text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  <a:ea typeface="Google Sans Text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ko-KR" altLang="ko-KR" sz="2400" dirty="0" smtClean="0">
                            <a:latin typeface="Cambria Math" panose="02040503050406030204" pitchFamily="18" charset="0"/>
                            <a:ea typeface="Google Sans Text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US" altLang="ko-KR" sz="2400" b="0" i="0" dirty="0" smtClean="0">
                            <a:latin typeface="Cambria Math" panose="02040503050406030204" pitchFamily="18" charset="0"/>
                            <a:ea typeface="Google Sans Text"/>
                          </a:rPr>
                          <m:t>Z</m:t>
                        </m:r>
                      </m:oMath>
                    </m:oMathPara>
                  </a14:m>
                  <a:endParaRPr lang="en-US" altLang="ko-KR" sz="2400" i="1">
                    <a:latin typeface="현대하모니 L" panose="02020603020101020101" pitchFamily="18" charset="-127"/>
                    <a:ea typeface="현대하모니 L" panose="02020603020101020101" pitchFamily="18" charset="-127"/>
                  </a:endParaRPr>
                </a:p>
              </p:txBody>
            </p:sp>
          </mc:Choice>
          <mc:Fallback xmlns="">
            <p:sp>
              <p:nvSpPr>
                <p:cNvPr id="42" name="Rectangle 1">
                  <a:extLst>
                    <a:ext uri="{FF2B5EF4-FFF2-40B4-BE49-F238E27FC236}">
                      <a16:creationId xmlns:a16="http://schemas.microsoft.com/office/drawing/2014/main" id="{8D8469C1-AF7F-FDCE-31E5-9E43C8399F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80107" y="2158880"/>
                  <a:ext cx="1992719" cy="415498"/>
                </a:xfrm>
                <a:prstGeom prst="rect">
                  <a:avLst/>
                </a:prstGeom>
                <a:blipFill>
                  <a:blip r:embed="rId3"/>
                  <a:stretch>
                    <a:fillRect l="-1007" b="-441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0FD107AB-FA39-F1C1-D077-B017E57C224B}"/>
                    </a:ext>
                  </a:extLst>
                </p:cNvPr>
                <p:cNvSpPr txBox="1"/>
                <p:nvPr/>
              </p:nvSpPr>
              <p:spPr>
                <a:xfrm>
                  <a:off x="1080108" y="3292517"/>
                  <a:ext cx="199271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ko-KR" sz="2400" i="1" dirty="0" smtClean="0">
                                <a:latin typeface="Cambria Math" panose="02040503050406030204" pitchFamily="18" charset="0"/>
                                <a:ea typeface="Google Sans Text"/>
                              </a:rPr>
                            </m:ctrlPr>
                          </m:sSubPr>
                          <m:e>
                            <m:r>
                              <a:rPr lang="ko-KR" altLang="ko-KR" sz="2400" i="1" dirty="0" smtClean="0">
                                <a:latin typeface="Cambria Math" panose="02040503050406030204" pitchFamily="18" charset="0"/>
                                <a:ea typeface="Google Sans Text"/>
                              </a:rPr>
                              <m:t>𝑇</m:t>
                            </m:r>
                          </m:e>
                          <m:sub>
                            <m:r>
                              <a:rPr lang="ko-KR" altLang="ko-KR" sz="2400" i="1" dirty="0" smtClean="0">
                                <a:latin typeface="Cambria Math" panose="02040503050406030204" pitchFamily="18" charset="0"/>
                                <a:ea typeface="Google Sans Text"/>
                              </a:rPr>
                              <m:t>0</m:t>
                            </m:r>
                          </m:sub>
                        </m:sSub>
                        <m:r>
                          <a:rPr lang="ko-KR" altLang="ko-KR" sz="2400" i="1" dirty="0" smtClean="0">
                            <a:latin typeface="Cambria Math" panose="02040503050406030204" pitchFamily="18" charset="0"/>
                            <a:ea typeface="Google Sans Text"/>
                          </a:rPr>
                          <m:t>=</m:t>
                        </m:r>
                        <m:r>
                          <a:rPr lang="ko-KR" altLang="ko-KR" sz="2400" i="1" dirty="0" err="1" smtClean="0">
                            <a:latin typeface="Cambria Math" panose="02040503050406030204" pitchFamily="18" charset="0"/>
                            <a:ea typeface="Google Sans Text"/>
                          </a:rPr>
                          <m:t>𝑇</m:t>
                        </m:r>
                        <m:r>
                          <a:rPr lang="ko-KR" altLang="ko-KR" sz="2400" i="1" dirty="0" smtClean="0">
                            <a:latin typeface="Cambria Math" panose="02040503050406030204" pitchFamily="18" charset="0"/>
                            <a:ea typeface="Google Sans Text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ko-KR" altLang="ko-KR" sz="2400" dirty="0" smtClean="0">
                            <a:latin typeface="Cambria Math" panose="02040503050406030204" pitchFamily="18" charset="0"/>
                            <a:ea typeface="Google Sans Text"/>
                          </a:rPr>
                          <m:t>Γ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  <a:ea typeface="Google Sans Text"/>
                          </a:rPr>
                          <m:t>𝑍</m:t>
                        </m:r>
                      </m:oMath>
                    </m:oMathPara>
                  </a14:m>
                  <a:endParaRPr lang="ko-KR" altLang="en-US" sz="240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0FD107AB-FA39-F1C1-D077-B017E57C22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108" y="3292517"/>
                  <a:ext cx="1992718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007" b="-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화살표: 아래쪽 44">
              <a:extLst>
                <a:ext uri="{FF2B5EF4-FFF2-40B4-BE49-F238E27FC236}">
                  <a16:creationId xmlns:a16="http://schemas.microsoft.com/office/drawing/2014/main" id="{9171F577-EBD1-783E-E1EF-161622443C2F}"/>
                </a:ext>
              </a:extLst>
            </p:cNvPr>
            <p:cNvSpPr/>
            <p:nvPr/>
          </p:nvSpPr>
          <p:spPr>
            <a:xfrm>
              <a:off x="1755267" y="2694366"/>
              <a:ext cx="583017" cy="492430"/>
            </a:xfrm>
            <a:prstGeom prst="downArrow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rgbClr val="FF0000"/>
                </a:gs>
                <a:gs pos="83000">
                  <a:srgbClr val="FF0000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883CAA5A-44CE-BA90-060A-0267DCD9634F}"/>
                </a:ext>
              </a:extLst>
            </p:cNvPr>
            <p:cNvSpPr/>
            <p:nvPr/>
          </p:nvSpPr>
          <p:spPr>
            <a:xfrm>
              <a:off x="1020726" y="1977656"/>
              <a:ext cx="2114285" cy="1920949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FB011E8-EC4C-0A7C-C7C7-B32EC58338CD}"/>
                  </a:ext>
                </a:extLst>
              </p:cNvPr>
              <p:cNvSpPr txBox="1"/>
              <p:nvPr/>
            </p:nvSpPr>
            <p:spPr>
              <a:xfrm>
                <a:off x="5322828" y="4240727"/>
                <a:ext cx="3666189" cy="1125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ko-KR" alt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400" i="1" smtClean="0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ko-KR" alt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240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ko-KR" alt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ko-KR" altLang="ko-KR" sz="2400" dirty="0"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Γ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2400" dirty="0"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Z</m:t>
                                  </m:r>
                                </m:num>
                                <m:den>
                                  <m:r>
                                    <a:rPr lang="ko-KR" altLang="en-US" sz="240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ko-KR" alt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ko-KR" altLang="en-US" sz="24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ko-KR" altLang="en-US" sz="240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ko-KR" altLang="en-US" sz="240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FB011E8-EC4C-0A7C-C7C7-B32EC5833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828" y="4240727"/>
                <a:ext cx="3666189" cy="1125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E250CF8-5689-94F5-0E7B-A9E58B4A1F98}"/>
                  </a:ext>
                </a:extLst>
              </p:cNvPr>
              <p:cNvSpPr txBox="1"/>
              <p:nvPr/>
            </p:nvSpPr>
            <p:spPr>
              <a:xfrm>
                <a:off x="1094842" y="1877077"/>
                <a:ext cx="366618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고도에 따른 온도변화 수식에서</a:t>
                </a:r>
                <a:endParaRPr lang="en-US" altLang="ko-KR" sz="200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L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L" panose="02020603020101020101" pitchFamily="18" charset="-127"/>
                          </a:rPr>
                          <m:t>𝑇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L" panose="02020603020101020101" pitchFamily="18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000">
                    <a:latin typeface="현대하모니 L" panose="02020603020101020101" pitchFamily="18" charset="-127"/>
                    <a:ea typeface="현대하모니 L" panose="02020603020101020101" pitchFamily="18" charset="-127"/>
                  </a:rPr>
                  <a:t>에 대한 수식으로 변환하여 활용</a:t>
                </a:r>
                <a:endParaRPr lang="en-US" altLang="ko-KR" sz="200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E250CF8-5689-94F5-0E7B-A9E58B4A1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842" y="1877077"/>
                <a:ext cx="3666189" cy="707886"/>
              </a:xfrm>
              <a:prstGeom prst="rect">
                <a:avLst/>
              </a:prstGeom>
              <a:blipFill>
                <a:blip r:embed="rId6"/>
                <a:stretch>
                  <a:fillRect l="-1830" t="-5172" b="-100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화살표: 아래쪽 57">
            <a:extLst>
              <a:ext uri="{FF2B5EF4-FFF2-40B4-BE49-F238E27FC236}">
                <a16:creationId xmlns:a16="http://schemas.microsoft.com/office/drawing/2014/main" id="{3240C2E8-F20A-D2B9-71BA-37E9A77C2EB8}"/>
              </a:ext>
            </a:extLst>
          </p:cNvPr>
          <p:cNvSpPr/>
          <p:nvPr/>
        </p:nvSpPr>
        <p:spPr>
          <a:xfrm>
            <a:off x="6889398" y="3748297"/>
            <a:ext cx="531659" cy="492430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화살표: 갈매기형 수장 60">
            <a:extLst>
              <a:ext uri="{FF2B5EF4-FFF2-40B4-BE49-F238E27FC236}">
                <a16:creationId xmlns:a16="http://schemas.microsoft.com/office/drawing/2014/main" id="{153A1609-7691-01D4-D85B-E637D8598C22}"/>
              </a:ext>
            </a:extLst>
          </p:cNvPr>
          <p:cNvSpPr/>
          <p:nvPr/>
        </p:nvSpPr>
        <p:spPr>
          <a:xfrm>
            <a:off x="4534680" y="3272938"/>
            <a:ext cx="815164" cy="684803"/>
          </a:xfrm>
          <a:prstGeom prst="chevron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74C4E9"/>
              </a:gs>
              <a:gs pos="72000">
                <a:srgbClr val="A2D8F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C0A198E-6210-48C1-AF5E-1082D7C3D22F}"/>
              </a:ext>
            </a:extLst>
          </p:cNvPr>
          <p:cNvSpPr txBox="1"/>
          <p:nvPr/>
        </p:nvSpPr>
        <p:spPr>
          <a:xfrm>
            <a:off x="4354514" y="3900178"/>
            <a:ext cx="1175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apply</a:t>
            </a:r>
          </a:p>
        </p:txBody>
      </p:sp>
    </p:spTree>
    <p:extLst>
      <p:ext uri="{BB962C8B-B14F-4D97-AF65-F5344CB8AC3E}">
        <p14:creationId xmlns:p14="http://schemas.microsoft.com/office/powerpoint/2010/main" val="556301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61010-172C-020A-8A6A-63D0F692B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830CB1-919E-F718-A49E-18D099165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4.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기압고도계 설계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- 6</a:t>
            </a:r>
            <a:endParaRPr lang="ko-KR" altLang="en-US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B27DF1-FC94-138B-3976-2048C453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z="180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11</a:t>
            </a:fld>
            <a:endParaRPr lang="ko-KR" altLang="en-US" sz="18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1A87BD1-8362-E450-818D-3E4B5A6CE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688" y="1218242"/>
            <a:ext cx="10641381" cy="605437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해면 기압 보정 값 계산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- 2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F895DB-2982-F24C-3B8D-85EBBC30315E}"/>
              </a:ext>
            </a:extLst>
          </p:cNvPr>
          <p:cNvSpPr txBox="1"/>
          <p:nvPr/>
        </p:nvSpPr>
        <p:spPr>
          <a:xfrm>
            <a:off x="1052312" y="1958811"/>
            <a:ext cx="2711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측정 기압</a:t>
            </a:r>
            <a:endParaRPr lang="en-US" altLang="ko-KR" sz="20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09CAE9-A087-A821-E4F0-77C8D03A7B36}"/>
                  </a:ext>
                </a:extLst>
              </p:cNvPr>
              <p:cNvSpPr txBox="1"/>
              <p:nvPr/>
            </p:nvSpPr>
            <p:spPr>
              <a:xfrm>
                <a:off x="1467159" y="2308012"/>
                <a:ext cx="2544726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 2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ko-KR" sz="2000" i="1" dirty="0" smtClean="0"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sSubPr>
                        <m:e>
                          <m:r>
                            <a:rPr lang="ko-KR" altLang="ko-KR" sz="2000" i="1" dirty="0" smtClean="0">
                              <a:latin typeface="Cambria Math" panose="02040503050406030204" pitchFamily="18" charset="0"/>
                              <a:ea typeface="Google Sans Text"/>
                            </a:rPr>
                            <m:t>𝑃</m:t>
                          </m:r>
                        </m:e>
                        <m:sub>
                          <m:r>
                            <a:rPr lang="ko-KR" altLang="ko-KR" sz="2000" i="1" dirty="0" smtClean="0">
                              <a:latin typeface="Cambria Math" panose="02040503050406030204" pitchFamily="18" charset="0"/>
                              <a:ea typeface="Google Sans Text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0" dirty="0" smtClean="0">
                          <a:latin typeface="Cambria Math" panose="02040503050406030204" pitchFamily="18" charset="0"/>
                          <a:ea typeface="Google Sans Text"/>
                        </a:rPr>
                        <m:t>=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1015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.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53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 [</m:t>
                      </m:r>
                      <m:r>
                        <a:rPr lang="en-US" altLang="ko-KR" sz="2000" i="1" dirty="0" err="1" smtClean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h</m:t>
                      </m:r>
                      <m:r>
                        <a:rPr lang="en-US" altLang="ko-KR" sz="2000" i="1" dirty="0" err="1" smtClean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𝑃𝑎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]</m:t>
                      </m:r>
                    </m:oMath>
                  </m:oMathPara>
                </a14:m>
                <a:endParaRPr lang="ko-KR" altLang="ko-KR" sz="200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09CAE9-A087-A821-E4F0-77C8D03A7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159" y="2308012"/>
                <a:ext cx="2544726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18191F9-1CEF-ECE4-A941-37F2FA5C19BB}"/>
              </a:ext>
            </a:extLst>
          </p:cNvPr>
          <p:cNvSpPr txBox="1"/>
          <p:nvPr/>
        </p:nvSpPr>
        <p:spPr>
          <a:xfrm>
            <a:off x="1052312" y="2885182"/>
            <a:ext cx="2711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측정 절대 온도</a:t>
            </a:r>
            <a:endParaRPr lang="en-US" altLang="ko-KR" sz="20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305055-343B-8F32-D3DB-0D3074A4313E}"/>
                  </a:ext>
                </a:extLst>
              </p:cNvPr>
              <p:cNvSpPr txBox="1"/>
              <p:nvPr/>
            </p:nvSpPr>
            <p:spPr>
              <a:xfrm>
                <a:off x="1467159" y="3228195"/>
                <a:ext cx="2544726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ko-KR" sz="2000" i="1" dirty="0" smtClean="0"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sSubPr>
                        <m:e>
                          <m:r>
                            <a:rPr lang="en-US" altLang="ko-KR" sz="2000" i="1" dirty="0">
                              <a:latin typeface="Cambria Math" panose="02040503050406030204" pitchFamily="18" charset="0"/>
                              <a:ea typeface="Google Sans Text"/>
                            </a:rPr>
                            <m:t>𝑇</m:t>
                          </m:r>
                        </m:e>
                        <m:sub>
                          <m:r>
                            <a:rPr lang="ko-KR" altLang="ko-KR" sz="2000" i="1" dirty="0">
                              <a:latin typeface="Cambria Math" panose="02040503050406030204" pitchFamily="18" charset="0"/>
                              <a:ea typeface="Google Sans Text"/>
                            </a:rPr>
                            <m:t>1</m:t>
                          </m:r>
                        </m:sub>
                      </m:sSub>
                      <m:r>
                        <a:rPr lang="en-US" altLang="ko-KR" sz="2000" dirty="0">
                          <a:latin typeface="Cambria Math" panose="02040503050406030204" pitchFamily="18" charset="0"/>
                          <a:ea typeface="Google Sans Text"/>
                        </a:rPr>
                        <m:t>=</m:t>
                      </m:r>
                      <m:r>
                        <a:rPr lang="ar-AE" altLang="ko-KR" sz="2000" i="1" dirty="0">
                          <a:latin typeface="Cambria Math" panose="02040503050406030204" pitchFamily="18" charset="0"/>
                        </a:rPr>
                        <m:t>294</m:t>
                      </m:r>
                      <m:r>
                        <a:rPr lang="ar-AE" altLang="ko-KR" sz="2000" i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ko-KR" sz="2000" i="1" dirty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2000" i="1" dirty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[</m:t>
                      </m:r>
                      <m:r>
                        <a:rPr lang="en-US" altLang="ko-KR" sz="2000" i="1" dirty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𝐾</m:t>
                      </m:r>
                      <m:r>
                        <a:rPr lang="en-US" altLang="ko-KR" sz="2000" i="1" dirty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]</m:t>
                      </m:r>
                    </m:oMath>
                  </m:oMathPara>
                </a14:m>
                <a:endParaRPr lang="ko-KR" altLang="ko-KR" sz="200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305055-343B-8F32-D3DB-0D3074A43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159" y="3228195"/>
                <a:ext cx="254472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9BB2300-4C4C-BF21-5497-F4933F4CBF94}"/>
              </a:ext>
            </a:extLst>
          </p:cNvPr>
          <p:cNvSpPr txBox="1"/>
          <p:nvPr/>
        </p:nvSpPr>
        <p:spPr>
          <a:xfrm>
            <a:off x="1052312" y="3811553"/>
            <a:ext cx="2711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진 고도</a:t>
            </a:r>
            <a:endParaRPr lang="en-US" altLang="ko-KR" sz="20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A005D3-863B-818E-5027-041077B1EEEB}"/>
                  </a:ext>
                </a:extLst>
              </p:cNvPr>
              <p:cNvSpPr txBox="1"/>
              <p:nvPr/>
            </p:nvSpPr>
            <p:spPr>
              <a:xfrm>
                <a:off x="1467159" y="4154566"/>
                <a:ext cx="2544726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dirty="0">
                              <a:latin typeface="Cambria Math" panose="02040503050406030204" pitchFamily="18" charset="0"/>
                              <a:ea typeface="현대하모니 L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2000" i="1" dirty="0">
                              <a:latin typeface="Cambria Math" panose="02040503050406030204" pitchFamily="18" charset="0"/>
                              <a:ea typeface="현대하모니 L" panose="02020603020101020101" pitchFamily="18" charset="-127"/>
                            </a:rPr>
                            <m:t>𝐻</m:t>
                          </m:r>
                        </m:e>
                        <m:sub>
                          <m:r>
                            <a:rPr lang="en-US" altLang="ko-KR" sz="2000" i="1" dirty="0">
                              <a:latin typeface="Cambria Math" panose="02040503050406030204" pitchFamily="18" charset="0"/>
                              <a:ea typeface="현대하모니 L" panose="02020603020101020101" pitchFamily="18" charset="-127"/>
                            </a:rPr>
                            <m:t>𝑡𝑟𝑢𝑒</m:t>
                          </m:r>
                        </m:sub>
                      </m:sSub>
                      <m:r>
                        <a:rPr lang="en-US" altLang="ko-KR" sz="2000" i="1" dirty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=</m:t>
                      </m:r>
                      <m:r>
                        <a:rPr lang="en-US" altLang="ko-KR" sz="2000" i="1" dirty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59</m:t>
                      </m:r>
                      <m:r>
                        <a:rPr lang="en-US" altLang="ko-KR" sz="2000" i="1" dirty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000" i="1" dirty="0">
                              <a:latin typeface="Cambria Math" panose="02040503050406030204" pitchFamily="18" charset="0"/>
                              <a:ea typeface="현대하모니 L" panose="02020603020101020101" pitchFamily="18" charset="-127"/>
                            </a:rPr>
                          </m:ctrlPr>
                        </m:dPr>
                        <m:e>
                          <m:r>
                            <a:rPr lang="en-US" altLang="ko-KR" sz="2000" i="1" dirty="0">
                              <a:latin typeface="Cambria Math" panose="02040503050406030204" pitchFamily="18" charset="0"/>
                              <a:ea typeface="현대하모니 L" panose="02020603020101020101" pitchFamily="18" charset="-127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ko-KR" altLang="ko-KR" sz="200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A005D3-863B-818E-5027-041077B1E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159" y="4154566"/>
                <a:ext cx="254472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A8F884-46D2-CC3F-97D8-7564CC294F47}"/>
                  </a:ext>
                </a:extLst>
              </p:cNvPr>
              <p:cNvSpPr txBox="1"/>
              <p:nvPr/>
            </p:nvSpPr>
            <p:spPr>
              <a:xfrm>
                <a:off x="5453634" y="1823679"/>
                <a:ext cx="4453431" cy="9844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00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AE" altLang="ko-KR" sz="20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altLang="ko-KR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00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AE" altLang="ko-KR" sz="20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ar-AE" altLang="ko-KR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altLang="ko-KR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ko-KR" sz="20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ko-KR" sz="200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ar-AE" altLang="ko-KR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l-GR" altLang="ko-KR" sz="2000" i="0" dirty="0" smtClean="0">
                                      <a:latin typeface="Cambria Math" panose="02040503050406030204" pitchFamily="18" charset="0"/>
                                    </a:rPr>
                                    <m:t>Γ</m:t>
                                  </m:r>
                                  <m:r>
                                    <a:rPr lang="en-US" altLang="ko-KR" sz="2000" b="0" i="1" dirty="0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ar-AE" altLang="ko-KR" sz="20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ar-AE" sz="2000" i="1" dirty="0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ar-AE" altLang="ko-KR" sz="2000" i="1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ar-AE" altLang="ko-KR" sz="20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ar-AE" sz="2000" i="1" dirty="0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ar-AE" altLang="ko-KR" sz="2000" i="1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ko-KR" altLang="en-US" sz="200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ko-KR" altLang="en-US" sz="200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A8F884-46D2-CC3F-97D8-7564CC294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3634" y="1823679"/>
                <a:ext cx="4453431" cy="9844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8D3F0F6-964D-6854-0814-28D519261046}"/>
                  </a:ext>
                </a:extLst>
              </p:cNvPr>
              <p:cNvSpPr txBox="1"/>
              <p:nvPr/>
            </p:nvSpPr>
            <p:spPr>
              <a:xfrm>
                <a:off x="4632349" y="3625313"/>
                <a:ext cx="6096000" cy="849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AE" altLang="ko-KR" sz="20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altLang="ko-KR" sz="2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ko-KR" sz="2000" i="1" dirty="0">
                          <a:latin typeface="Cambria Math" panose="02040503050406030204" pitchFamily="18" charset="0"/>
                        </a:rPr>
                        <m:t>1015</m:t>
                      </m:r>
                      <m:r>
                        <a:rPr lang="ar-AE" altLang="ko-KR" sz="2000" i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ko-KR" sz="2000" i="1" dirty="0">
                          <a:latin typeface="Cambria Math" panose="02040503050406030204" pitchFamily="18" charset="0"/>
                        </a:rPr>
                        <m:t>53</m:t>
                      </m:r>
                      <m:r>
                        <a:rPr lang="ar-AE" altLang="ko-KR" sz="2000" i="1" dirty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ar-AE" altLang="ko-KR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altLang="ko-KR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ko-KR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ko-KR" sz="20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ar-AE" altLang="ko-KR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altLang="ko-KR" sz="20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ar-AE" altLang="ko-KR" sz="2000" i="1" dirty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ar-AE" altLang="ko-KR" sz="2000" i="1" dirty="0">
                                      <a:latin typeface="Cambria Math" panose="02040503050406030204" pitchFamily="18" charset="0"/>
                                    </a:rPr>
                                    <m:t>0065</m:t>
                                  </m:r>
                                  <m:r>
                                    <a:rPr lang="ar-AE" altLang="ko-KR" sz="2000" i="1" dirty="0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ar-AE" altLang="ko-KR" sz="2000" i="1" dirty="0">
                                      <a:latin typeface="Cambria Math" panose="02040503050406030204" pitchFamily="18" charset="0"/>
                                    </a:rPr>
                                    <m:t>59</m:t>
                                  </m:r>
                                </m:num>
                                <m:den>
                                  <m:r>
                                    <a:rPr lang="ar-AE" altLang="ko-KR" sz="2000" i="1" dirty="0">
                                      <a:latin typeface="Cambria Math" panose="02040503050406030204" pitchFamily="18" charset="0"/>
                                    </a:rPr>
                                    <m:t>294</m:t>
                                  </m:r>
                                  <m:r>
                                    <a:rPr lang="ar-AE" altLang="ko-KR" sz="2000" i="1" dirty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ar-AE" altLang="ko-KR" sz="2000" i="1" dirty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ar-AE" altLang="ko-KR" sz="2000" i="1" dirty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ar-AE" altLang="ko-KR" sz="2000" i="1" dirty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altLang="ko-KR" sz="2000" i="1" dirty="0">
                              <a:latin typeface="Cambria Math" panose="02040503050406030204" pitchFamily="18" charset="0"/>
                            </a:rPr>
                            <m:t>2559</m:t>
                          </m:r>
                        </m:sup>
                      </m:sSup>
                    </m:oMath>
                  </m:oMathPara>
                </a14:m>
                <a:endParaRPr lang="ko-KR" altLang="en-US" sz="200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8D3F0F6-964D-6854-0814-28D519261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349" y="3625313"/>
                <a:ext cx="6096000" cy="8491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8F55074-B8BE-C2A7-91A8-FEAD70ABC42E}"/>
                  </a:ext>
                </a:extLst>
              </p:cNvPr>
              <p:cNvSpPr txBox="1"/>
              <p:nvPr/>
            </p:nvSpPr>
            <p:spPr>
              <a:xfrm>
                <a:off x="6324542" y="4670800"/>
                <a:ext cx="2711613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ko-KR" sz="20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altLang="ko-KR" sz="2000" b="1" i="1" dirty="0" smtClean="0">
                          <a:latin typeface="Cambria Math" panose="02040503050406030204" pitchFamily="18" charset="0"/>
                        </a:rPr>
                        <m:t>𝟏𝟎𝟐𝟐</m:t>
                      </m:r>
                      <m:r>
                        <a:rPr lang="ar-AE" altLang="ko-KR" sz="20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ko-KR" sz="2000" b="1" i="1" dirty="0" smtClean="0">
                          <a:latin typeface="Cambria Math" panose="02040503050406030204" pitchFamily="18" charset="0"/>
                        </a:rPr>
                        <m:t>𝟒𝟗</m:t>
                      </m:r>
                      <m:r>
                        <m:rPr>
                          <m:nor/>
                        </m:rPr>
                        <a:rPr lang="ar-AE" altLang="ko-KR" sz="2000" b="1" dirty="0"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m:t> </m:t>
                      </m:r>
                      <m:r>
                        <m:rPr>
                          <m:nor/>
                        </m:rPr>
                        <a:rPr lang="ar-AE" altLang="ko-KR" sz="2000" b="1" i="0" dirty="0" smtClean="0"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m:t>[</m:t>
                      </m:r>
                      <m:r>
                        <a:rPr lang="en-US" altLang="ko-KR" sz="2000" b="1" i="1" dirty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𝒉</m:t>
                      </m:r>
                      <m:r>
                        <a:rPr lang="en-US" altLang="ko-KR" sz="2000" b="1" i="1" dirty="0" err="1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𝑷𝒂</m:t>
                      </m:r>
                      <m:r>
                        <m:rPr>
                          <m:nor/>
                        </m:rPr>
                        <a:rPr lang="ar-AE" altLang="ko-KR" sz="2000" b="1" i="0" dirty="0" smtClean="0"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m:t>]</m:t>
                      </m:r>
                    </m:oMath>
                  </m:oMathPara>
                </a14:m>
                <a:endParaRPr lang="ar-AE" altLang="ko-KR" sz="2000" b="1">
                  <a:latin typeface="현대하모니 B" panose="02020603020101020101" pitchFamily="18" charset="-127"/>
                  <a:ea typeface="현대하모니 B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8F55074-B8BE-C2A7-91A8-FEAD70ABC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542" y="4670800"/>
                <a:ext cx="2711613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DD2ABCD0-316C-9009-F067-6FDAEF0B234E}"/>
              </a:ext>
            </a:extLst>
          </p:cNvPr>
          <p:cNvSpPr/>
          <p:nvPr/>
        </p:nvSpPr>
        <p:spPr>
          <a:xfrm>
            <a:off x="7414518" y="3010418"/>
            <a:ext cx="531659" cy="492430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B45B3AA-4FBB-D939-1C63-6259908D9183}"/>
              </a:ext>
            </a:extLst>
          </p:cNvPr>
          <p:cNvSpPr/>
          <p:nvPr/>
        </p:nvSpPr>
        <p:spPr>
          <a:xfrm>
            <a:off x="6597934" y="4670800"/>
            <a:ext cx="2164826" cy="5968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949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295F2-4252-8A78-D086-FDEEFBAA6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59E7AC-FDEB-CA6E-C88B-191F6AFB3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4.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기압고도계 설계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- 7</a:t>
            </a:r>
            <a:endParaRPr lang="ko-KR" altLang="en-US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27D198-E38D-4C85-88EE-4856F8323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z="180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12</a:t>
            </a:fld>
            <a:endParaRPr lang="ko-KR" altLang="en-US" sz="18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AB2776D8-A4C9-A9A7-11B0-5DA0E7B58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688" y="1218242"/>
            <a:ext cx="10641381" cy="605437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보정된 해면기압 값을 활용한 고도 측정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46C3F0-2B33-3A5D-17D3-1828D67B1E2E}"/>
              </a:ext>
            </a:extLst>
          </p:cNvPr>
          <p:cNvSpPr txBox="1"/>
          <p:nvPr/>
        </p:nvSpPr>
        <p:spPr>
          <a:xfrm>
            <a:off x="1052312" y="1958811"/>
            <a:ext cx="2711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보정된 해면 기압</a:t>
            </a:r>
            <a:endParaRPr lang="en-US" altLang="ko-KR" sz="20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27C573-6D78-DCCA-2111-27132F0AAA2C}"/>
                  </a:ext>
                </a:extLst>
              </p:cNvPr>
              <p:cNvSpPr txBox="1"/>
              <p:nvPr/>
            </p:nvSpPr>
            <p:spPr>
              <a:xfrm>
                <a:off x="1467159" y="2308012"/>
                <a:ext cx="2544726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 2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ko-KR" sz="2000" i="1" dirty="0" smtClean="0"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sSubPr>
                        <m:e>
                          <m:r>
                            <a:rPr lang="ko-KR" altLang="ko-KR" sz="2000" i="1" dirty="0" smtClean="0">
                              <a:latin typeface="Cambria Math" panose="02040503050406030204" pitchFamily="18" charset="0"/>
                              <a:ea typeface="Google Sans Text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2000" b="0" i="1" dirty="0" smtClean="0">
                              <a:latin typeface="Cambria Math" panose="02040503050406030204" pitchFamily="18" charset="0"/>
                              <a:ea typeface="Google Sans Text"/>
                            </a:rPr>
                            <m:t>0</m:t>
                          </m:r>
                        </m:sub>
                      </m:sSub>
                      <m:r>
                        <a:rPr lang="en-US" altLang="ko-KR" sz="2000" b="0" i="0" dirty="0" smtClean="0">
                          <a:latin typeface="Cambria Math" panose="02040503050406030204" pitchFamily="18" charset="0"/>
                          <a:ea typeface="Google Sans Text"/>
                        </a:rPr>
                        <m:t>=</m:t>
                      </m:r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1022</m:t>
                      </m:r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.</m:t>
                      </m:r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49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 [</m:t>
                      </m:r>
                      <m:r>
                        <a:rPr lang="en-US" altLang="ko-KR" sz="2000" i="1" dirty="0" err="1" smtClean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h</m:t>
                      </m:r>
                      <m:r>
                        <a:rPr lang="en-US" altLang="ko-KR" sz="2000" i="1" dirty="0" err="1" smtClean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𝑃𝑎</m:t>
                      </m:r>
                      <m:r>
                        <a:rPr lang="en-US" altLang="ko-KR" sz="2000" i="1" dirty="0" smtClean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]</m:t>
                      </m:r>
                    </m:oMath>
                  </m:oMathPara>
                </a14:m>
                <a:endParaRPr lang="ko-KR" altLang="ko-KR" sz="200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27C573-6D78-DCCA-2111-27132F0AA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159" y="2308012"/>
                <a:ext cx="254472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A41DAB7-DD31-7A8D-C296-9AD270FB5732}"/>
              </a:ext>
            </a:extLst>
          </p:cNvPr>
          <p:cNvSpPr txBox="1"/>
          <p:nvPr/>
        </p:nvSpPr>
        <p:spPr>
          <a:xfrm>
            <a:off x="1052312" y="2885182"/>
            <a:ext cx="2711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측정 기압</a:t>
            </a:r>
            <a:endParaRPr lang="en-US" altLang="ko-KR" sz="20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60A0474-BEA7-D820-86A5-E96B708A3C1C}"/>
                  </a:ext>
                </a:extLst>
              </p:cNvPr>
              <p:cNvSpPr txBox="1"/>
              <p:nvPr/>
            </p:nvSpPr>
            <p:spPr>
              <a:xfrm>
                <a:off x="1467159" y="3228195"/>
                <a:ext cx="2544726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ko-KR" sz="2000" i="1" dirty="0" smtClean="0"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sSubPr>
                        <m:e>
                          <m:r>
                            <a:rPr lang="ko-KR" altLang="ko-KR" sz="2000" i="1" dirty="0">
                              <a:latin typeface="Cambria Math" panose="02040503050406030204" pitchFamily="18" charset="0"/>
                              <a:ea typeface="Google Sans Text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2000" b="0" i="1" dirty="0" smtClean="0">
                              <a:latin typeface="Cambria Math" panose="02040503050406030204" pitchFamily="18" charset="0"/>
                              <a:ea typeface="Google Sans Text"/>
                            </a:rPr>
                            <m:t>2</m:t>
                          </m:r>
                        </m:sub>
                      </m:sSub>
                      <m:r>
                        <a:rPr lang="en-US" altLang="ko-KR" sz="2000" dirty="0">
                          <a:latin typeface="Cambria Math" panose="02040503050406030204" pitchFamily="18" charset="0"/>
                          <a:ea typeface="Google Sans Text"/>
                        </a:rPr>
                        <m:t>=</m:t>
                      </m:r>
                      <m:r>
                        <a:rPr lang="en-US" altLang="ko-KR" sz="2000" i="1" dirty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1015</m:t>
                      </m:r>
                      <m:r>
                        <a:rPr lang="en-US" altLang="ko-KR" sz="2000" i="1" dirty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.</m:t>
                      </m:r>
                      <m:r>
                        <a:rPr lang="en-US" altLang="ko-KR" sz="2000" i="1" dirty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53</m:t>
                      </m:r>
                      <m:r>
                        <a:rPr lang="en-US" altLang="ko-KR" sz="2000" i="1" dirty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 [</m:t>
                      </m:r>
                      <m:r>
                        <a:rPr lang="en-US" altLang="ko-KR" sz="2000" i="1" dirty="0" err="1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h</m:t>
                      </m:r>
                      <m:r>
                        <a:rPr lang="en-US" altLang="ko-KR" sz="2000" i="1" dirty="0" err="1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𝑃𝑎</m:t>
                      </m:r>
                      <m:r>
                        <a:rPr lang="en-US" altLang="ko-KR" sz="2000" i="1" dirty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]</m:t>
                      </m:r>
                    </m:oMath>
                  </m:oMathPara>
                </a14:m>
                <a:endParaRPr lang="ko-KR" altLang="ko-KR" sz="200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60A0474-BEA7-D820-86A5-E96B708A3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159" y="3228195"/>
                <a:ext cx="254472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021E41E-658E-0497-384A-787BFD817628}"/>
              </a:ext>
            </a:extLst>
          </p:cNvPr>
          <p:cNvSpPr txBox="1"/>
          <p:nvPr/>
        </p:nvSpPr>
        <p:spPr>
          <a:xfrm>
            <a:off x="1052312" y="3811553"/>
            <a:ext cx="2711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측정 절대 온도</a:t>
            </a:r>
            <a:endParaRPr lang="en-US" altLang="ko-KR" sz="20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034FF91-7F89-7A8A-B285-38D51649A60E}"/>
                  </a:ext>
                </a:extLst>
              </p:cNvPr>
              <p:cNvSpPr txBox="1"/>
              <p:nvPr/>
            </p:nvSpPr>
            <p:spPr>
              <a:xfrm>
                <a:off x="1467159" y="4154566"/>
                <a:ext cx="2544726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dirty="0" smtClean="0">
                              <a:latin typeface="Cambria Math" panose="02040503050406030204" pitchFamily="18" charset="0"/>
                              <a:ea typeface="현대하모니 L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2000" b="0" i="1" dirty="0" smtClean="0">
                              <a:latin typeface="Cambria Math" panose="02040503050406030204" pitchFamily="18" charset="0"/>
                              <a:ea typeface="현대하모니 L" panose="02020603020101020101" pitchFamily="18" charset="-127"/>
                            </a:rPr>
                            <m:t>𝑇</m:t>
                          </m:r>
                        </m:e>
                        <m:sub>
                          <m:r>
                            <a:rPr lang="en-US" altLang="ko-KR" sz="2000" b="0" i="1" dirty="0" smtClean="0">
                              <a:latin typeface="Cambria Math" panose="02040503050406030204" pitchFamily="18" charset="0"/>
                              <a:ea typeface="현대하모니 L" panose="02020603020101020101" pitchFamily="18" charset="-127"/>
                            </a:rPr>
                            <m:t>2</m:t>
                          </m:r>
                        </m:sub>
                      </m:sSub>
                      <m:r>
                        <a:rPr lang="en-US" altLang="ko-KR" sz="2000" i="1" dirty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=</m:t>
                      </m:r>
                      <m:r>
                        <a:rPr lang="ar-AE" altLang="ko-KR" sz="2000" i="1" dirty="0">
                          <a:latin typeface="Cambria Math" panose="02040503050406030204" pitchFamily="18" charset="0"/>
                        </a:rPr>
                        <m:t>29</m:t>
                      </m:r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ar-AE" altLang="ko-KR" sz="2000" i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38</m:t>
                      </m:r>
                      <m:r>
                        <a:rPr lang="en-US" altLang="ko-KR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2000" i="1" dirty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[</m:t>
                      </m:r>
                      <m:r>
                        <a:rPr lang="en-US" altLang="ko-KR" sz="2000" i="1" dirty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𝐾</m:t>
                      </m:r>
                      <m:r>
                        <a:rPr lang="en-US" altLang="ko-KR" sz="2000" i="1" dirty="0">
                          <a:latin typeface="Cambria Math" panose="02040503050406030204" pitchFamily="18" charset="0"/>
                          <a:ea typeface="현대하모니 L" panose="02020603020101020101" pitchFamily="18" charset="-127"/>
                        </a:rPr>
                        <m:t>]</m:t>
                      </m:r>
                    </m:oMath>
                  </m:oMathPara>
                </a14:m>
                <a:endParaRPr lang="ko-KR" altLang="ko-KR" sz="200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034FF91-7F89-7A8A-B285-38D51649A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159" y="4154566"/>
                <a:ext cx="2544726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9B9FB80-95B0-147C-6380-D66B4C4093B1}"/>
                  </a:ext>
                </a:extLst>
              </p:cNvPr>
              <p:cNvSpPr txBox="1"/>
              <p:nvPr/>
            </p:nvSpPr>
            <p:spPr>
              <a:xfrm>
                <a:off x="4632349" y="3625313"/>
                <a:ext cx="6096000" cy="8980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ko-KR" alt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295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38</m:t>
                          </m:r>
                        </m:num>
                        <m:den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0065</m:t>
                          </m:r>
                        </m:den>
                      </m:f>
                      <m:r>
                        <a:rPr lang="ko-KR" altLang="en-US" sz="2000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ko-KR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ko-KR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ko-KR" altLang="en-US" sz="2000" i="1">
                                          <a:latin typeface="Cambria Math" panose="02040503050406030204" pitchFamily="18" charset="0"/>
                                        </a:rPr>
                                        <m:t>1015</m:t>
                                      </m:r>
                                      <m:r>
                                        <a:rPr lang="ko-KR" altLang="en-US" sz="2000" i="1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ko-KR" altLang="en-US" sz="2000" i="1">
                                          <a:latin typeface="Cambria Math" panose="02040503050406030204" pitchFamily="18" charset="0"/>
                                        </a:rPr>
                                        <m:t>19</m:t>
                                      </m:r>
                                    </m:num>
                                    <m:den>
                                      <m:r>
                                        <a:rPr lang="ko-KR" altLang="en-US" sz="2000" i="1">
                                          <a:latin typeface="Cambria Math" panose="02040503050406030204" pitchFamily="18" charset="0"/>
                                        </a:rPr>
                                        <m:t>1022</m:t>
                                      </m:r>
                                      <m:r>
                                        <a:rPr lang="ko-KR" altLang="en-US" sz="2000" i="1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ko-KR" altLang="en-US" sz="2000" i="1">
                                          <a:latin typeface="Cambria Math" panose="02040503050406030204" pitchFamily="18" charset="0"/>
                                        </a:rPr>
                                        <m:t>49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  <m:t>19026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200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9B9FB80-95B0-147C-6380-D66B4C409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349" y="3625313"/>
                <a:ext cx="6096000" cy="8980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7025324-E1FE-826C-9060-912FA3EBB1A9}"/>
                  </a:ext>
                </a:extLst>
              </p:cNvPr>
              <p:cNvSpPr txBox="1"/>
              <p:nvPr/>
            </p:nvSpPr>
            <p:spPr>
              <a:xfrm>
                <a:off x="6324542" y="4670800"/>
                <a:ext cx="2711613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ko-KR" sz="20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nor/>
                        </m:rPr>
                        <a:rPr lang="en-US" altLang="ko-KR" sz="2000" b="1" i="0" dirty="0" smtClean="0">
                          <a:latin typeface="Cambria Math" panose="02040503050406030204" pitchFamily="18" charset="0"/>
                        </a:rPr>
                        <m:t>62</m:t>
                      </m:r>
                      <m:r>
                        <m:rPr>
                          <m:nor/>
                        </m:rPr>
                        <a:rPr lang="en-US" altLang="ko-KR" sz="20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altLang="ko-KR" sz="2000" b="1" i="0" dirty="0" smtClean="0">
                          <a:latin typeface="Cambria Math" panose="02040503050406030204" pitchFamily="18" charset="0"/>
                        </a:rPr>
                        <m:t>0 </m:t>
                      </m:r>
                      <m:r>
                        <m:rPr>
                          <m:nor/>
                        </m:rPr>
                        <a:rPr lang="ar-AE" altLang="ko-KR" sz="2000" b="1" i="0" dirty="0" smtClean="0"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m:t>[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  <a:ea typeface="현대하모니 B" panose="02020603020101020101" pitchFamily="18" charset="-127"/>
                        </a:rPr>
                        <m:t>𝒎</m:t>
                      </m:r>
                      <m:r>
                        <m:rPr>
                          <m:nor/>
                        </m:rPr>
                        <a:rPr lang="ar-AE" altLang="ko-KR" sz="2000" b="1" i="0" dirty="0" smtClean="0"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m:t>]</m:t>
                      </m:r>
                    </m:oMath>
                  </m:oMathPara>
                </a14:m>
                <a:endParaRPr lang="ar-AE" altLang="ko-KR" sz="2000" b="1">
                  <a:latin typeface="현대하모니 B" panose="02020603020101020101" pitchFamily="18" charset="-127"/>
                  <a:ea typeface="현대하모니 B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7025324-E1FE-826C-9060-912FA3EBB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542" y="4670800"/>
                <a:ext cx="2711613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8EFF2B34-588C-F7BD-621C-BAB078EC8E43}"/>
              </a:ext>
            </a:extLst>
          </p:cNvPr>
          <p:cNvSpPr/>
          <p:nvPr/>
        </p:nvSpPr>
        <p:spPr>
          <a:xfrm>
            <a:off x="7414518" y="3010418"/>
            <a:ext cx="531659" cy="492430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D90E8D-DCB3-22A6-C7DD-4C7C3892CCC0}"/>
                  </a:ext>
                </a:extLst>
              </p:cNvPr>
              <p:cNvSpPr txBox="1"/>
              <p:nvPr/>
            </p:nvSpPr>
            <p:spPr>
              <a:xfrm>
                <a:off x="6012102" y="1818903"/>
                <a:ext cx="3336490" cy="9782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sz="20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ko-KR" sz="20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sz="20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000" b="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altLang="ko-KR" sz="2000" b="0" i="0">
                              <a:latin typeface="Cambria Math" panose="02040503050406030204" pitchFamily="18" charset="0"/>
                            </a:rPr>
                            <m:t>Γ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b="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b="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b="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en-US" altLang="ko-KR" sz="2000" b="0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US" altLang="ko-KR" sz="2000" b="0" i="1">
                                      <a:latin typeface="Cambria Math" panose="02040503050406030204" pitchFamily="18" charset="0"/>
                                    </a:rPr>
                                    <m:t>Γ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2000">
                  <a:latin typeface="현대하모니 L" panose="02020603020101020101" pitchFamily="18" charset="-127"/>
                  <a:ea typeface="현대하모니 L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D90E8D-DCB3-22A6-C7DD-4C7C3892C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102" y="1818903"/>
                <a:ext cx="3336490" cy="9782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직사각형 10">
            <a:extLst>
              <a:ext uri="{FF2B5EF4-FFF2-40B4-BE49-F238E27FC236}">
                <a16:creationId xmlns:a16="http://schemas.microsoft.com/office/drawing/2014/main" id="{66E39901-D436-7484-47E7-39D80252CE63}"/>
              </a:ext>
            </a:extLst>
          </p:cNvPr>
          <p:cNvSpPr/>
          <p:nvPr/>
        </p:nvSpPr>
        <p:spPr>
          <a:xfrm>
            <a:off x="6953692" y="4670800"/>
            <a:ext cx="1438941" cy="5968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42564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9559173-CC86-0D41-05D0-22EB22F76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0ED67-102C-E6D5-961D-BD8C690B2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5.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수직채널 안정화 루프 설계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184668-74C2-27AF-EF1B-AB8CD924F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z="180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13</a:t>
            </a:fld>
            <a:endParaRPr lang="ko-KR" altLang="en-US" sz="18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9B8A92E7-CA08-7937-5B9D-1AA307712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688" y="1218242"/>
            <a:ext cx="10641381" cy="605437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추후 추가 예정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2430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EB3FF-9A41-23C8-9D51-7D4AFB374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3AA79F-E7D2-1E2C-542F-2D3E8BC71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6.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결과 분석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–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기압고도계 설계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18B085-E1CB-21E1-FAD2-49E2BABD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z="180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14</a:t>
            </a:fld>
            <a:endParaRPr lang="ko-KR" altLang="en-US" sz="18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3FD5AE-6F51-458B-38CF-425733E22617}"/>
              </a:ext>
            </a:extLst>
          </p:cNvPr>
          <p:cNvSpPr txBox="1"/>
          <p:nvPr/>
        </p:nvSpPr>
        <p:spPr>
          <a:xfrm>
            <a:off x="0" y="6492240"/>
            <a:ext cx="2743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* </a:t>
            </a:r>
            <a:r>
              <a:rPr lang="ko-KR" altLang="en-US" sz="160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뉴턴홀</a:t>
            </a:r>
            <a:r>
              <a:rPr lang="ko-KR" altLang="en-US" sz="16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중앙 계단 기준 측정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0C5FE01-D4E4-F18A-A767-E59BC8700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897" y="1494020"/>
            <a:ext cx="7489088" cy="38699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83995CD-2218-CCA8-D604-0397D91E58B4}"/>
                  </a:ext>
                </a:extLst>
              </p:cNvPr>
              <p:cNvSpPr txBox="1"/>
              <p:nvPr/>
            </p:nvSpPr>
            <p:spPr>
              <a:xfrm>
                <a:off x="8874807" y="3118304"/>
                <a:ext cx="29131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Mean Value: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59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.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00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 [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𝑚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]</m:t>
                    </m:r>
                  </m:oMath>
                </a14:m>
                <a:endParaRPr lang="ko-KR" altLang="en-US" sz="200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83995CD-2218-CCA8-D604-0397D91E5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4807" y="3118304"/>
                <a:ext cx="2913156" cy="400110"/>
              </a:xfrm>
              <a:prstGeom prst="rect">
                <a:avLst/>
              </a:prstGeom>
              <a:blipFill>
                <a:blip r:embed="rId3"/>
                <a:stretch>
                  <a:fillRect l="-2301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055DA62E-426F-4090-67B2-D4064B16B033}"/>
              </a:ext>
            </a:extLst>
          </p:cNvPr>
          <p:cNvSpPr/>
          <p:nvPr/>
        </p:nvSpPr>
        <p:spPr>
          <a:xfrm rot="5400000">
            <a:off x="8367163" y="3151284"/>
            <a:ext cx="286264" cy="316619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AB6C86-E63A-EE03-0296-9464ECB5EC9F}"/>
                  </a:ext>
                </a:extLst>
              </p:cNvPr>
              <p:cNvSpPr txBox="1"/>
              <p:nvPr/>
            </p:nvSpPr>
            <p:spPr>
              <a:xfrm>
                <a:off x="8874807" y="3931421"/>
                <a:ext cx="27432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Sensor Resolution Boundary </a:t>
                </a:r>
                <a14:m>
                  <m:oMath xmlns:m="http://schemas.openxmlformats.org/officeDocument/2006/math"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±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0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.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5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 [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𝑚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]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)</m:t>
                    </m:r>
                  </m:oMath>
                </a14:m>
                <a:endParaRPr lang="ko-KR" altLang="en-US" sz="200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AB6C86-E63A-EE03-0296-9464ECB5E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4807" y="3931421"/>
                <a:ext cx="2743200" cy="707886"/>
              </a:xfrm>
              <a:prstGeom prst="rect">
                <a:avLst/>
              </a:prstGeom>
              <a:blipFill>
                <a:blip r:embed="rId4"/>
                <a:stretch>
                  <a:fillRect l="-2444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1883A6B5-87D7-B1C4-AE04-3861596206A7}"/>
              </a:ext>
            </a:extLst>
          </p:cNvPr>
          <p:cNvSpPr/>
          <p:nvPr/>
        </p:nvSpPr>
        <p:spPr>
          <a:xfrm rot="5400000">
            <a:off x="8367163" y="3964401"/>
            <a:ext cx="286264" cy="316619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D28725-89C9-59EF-09FB-8E29E6010883}"/>
              </a:ext>
            </a:extLst>
          </p:cNvPr>
          <p:cNvSpPr txBox="1"/>
          <p:nvPr/>
        </p:nvSpPr>
        <p:spPr>
          <a:xfrm>
            <a:off x="3090485" y="1155630"/>
            <a:ext cx="343086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</a:t>
            </a:r>
            <a:r>
              <a:rPr lang="ko-KR" altLang="en-US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층 고도 값 </a:t>
            </a:r>
            <a:r>
              <a:rPr lang="en-US" altLang="ko-KR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(100Hz)</a:t>
            </a:r>
            <a:endParaRPr lang="ko-KR" altLang="en-US" sz="2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4231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A3DA4-E326-8B9C-1D1A-0BD5F0559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23BA8-A8E5-C4AE-2732-39BC67C34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6.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결과 분석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–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기압고도계 설계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568B8A-25AF-6B35-96DE-B68B9FCD7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z="180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15</a:t>
            </a:fld>
            <a:endParaRPr lang="ko-KR" altLang="en-US" sz="18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BC7413-F799-8CB5-F944-FFFA94B7CC96}"/>
              </a:ext>
            </a:extLst>
          </p:cNvPr>
          <p:cNvSpPr txBox="1"/>
          <p:nvPr/>
        </p:nvSpPr>
        <p:spPr>
          <a:xfrm>
            <a:off x="0" y="6492240"/>
            <a:ext cx="2743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* </a:t>
            </a:r>
            <a:r>
              <a:rPr lang="ko-KR" altLang="en-US" sz="160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뉴턴홀</a:t>
            </a:r>
            <a:r>
              <a:rPr lang="ko-KR" altLang="en-US" sz="16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중앙 계단 기준 측정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F4AF200-5907-D76D-8451-87774EA927B0}"/>
                  </a:ext>
                </a:extLst>
              </p:cNvPr>
              <p:cNvSpPr txBox="1"/>
              <p:nvPr/>
            </p:nvSpPr>
            <p:spPr>
              <a:xfrm>
                <a:off x="8874807" y="3048445"/>
                <a:ext cx="29131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Mean Value: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6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2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.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82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 [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𝑚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]</m:t>
                    </m:r>
                  </m:oMath>
                </a14:m>
                <a:endParaRPr lang="ko-KR" altLang="en-US" sz="200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F4AF200-5907-D76D-8451-87774EA92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4807" y="3048445"/>
                <a:ext cx="2913156" cy="400110"/>
              </a:xfrm>
              <a:prstGeom prst="rect">
                <a:avLst/>
              </a:prstGeom>
              <a:blipFill>
                <a:blip r:embed="rId2"/>
                <a:stretch>
                  <a:fillRect l="-2301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73B45451-6B0D-EC6C-DF04-677EA0E15D46}"/>
              </a:ext>
            </a:extLst>
          </p:cNvPr>
          <p:cNvSpPr/>
          <p:nvPr/>
        </p:nvSpPr>
        <p:spPr>
          <a:xfrm rot="5400000">
            <a:off x="8367163" y="3081425"/>
            <a:ext cx="286264" cy="316619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BDB91D-B834-1C1E-8992-E5EC1F3740F0}"/>
                  </a:ext>
                </a:extLst>
              </p:cNvPr>
              <p:cNvSpPr txBox="1"/>
              <p:nvPr/>
            </p:nvSpPr>
            <p:spPr>
              <a:xfrm>
                <a:off x="8874807" y="3685059"/>
                <a:ext cx="27432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Sensor Resolution Boundary </a:t>
                </a:r>
                <a14:m>
                  <m:oMath xmlns:m="http://schemas.openxmlformats.org/officeDocument/2006/math"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±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0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.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5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 [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𝑚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]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)</m:t>
                    </m:r>
                  </m:oMath>
                </a14:m>
                <a:endParaRPr lang="ko-KR" altLang="en-US" sz="200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BDB91D-B834-1C1E-8992-E5EC1F374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4807" y="3685059"/>
                <a:ext cx="2743200" cy="707886"/>
              </a:xfrm>
              <a:prstGeom prst="rect">
                <a:avLst/>
              </a:prstGeom>
              <a:blipFill>
                <a:blip r:embed="rId3"/>
                <a:stretch>
                  <a:fillRect l="-2444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6E98A91B-925D-EEAD-6B85-6706B2DA9778}"/>
              </a:ext>
            </a:extLst>
          </p:cNvPr>
          <p:cNvSpPr/>
          <p:nvPr/>
        </p:nvSpPr>
        <p:spPr>
          <a:xfrm rot="5400000">
            <a:off x="8367163" y="3718039"/>
            <a:ext cx="286264" cy="316619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398D3D4-90A6-26BE-4E51-36F94B4C2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897" y="1494020"/>
            <a:ext cx="7489088" cy="386996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2CE4850-ED3B-EC38-4CE4-FB36DD535747}"/>
              </a:ext>
            </a:extLst>
          </p:cNvPr>
          <p:cNvSpPr txBox="1"/>
          <p:nvPr/>
        </p:nvSpPr>
        <p:spPr>
          <a:xfrm>
            <a:off x="3090485" y="1155630"/>
            <a:ext cx="343086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2</a:t>
            </a:r>
            <a:r>
              <a:rPr lang="ko-KR" altLang="en-US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층 고도 값 </a:t>
            </a:r>
            <a:r>
              <a:rPr lang="en-US" altLang="ko-KR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(100Hz)</a:t>
            </a:r>
            <a:endParaRPr lang="ko-KR" altLang="en-US" sz="2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" name="화살표: 갈매기형 수장 7">
            <a:extLst>
              <a:ext uri="{FF2B5EF4-FFF2-40B4-BE49-F238E27FC236}">
                <a16:creationId xmlns:a16="http://schemas.microsoft.com/office/drawing/2014/main" id="{F12BE753-DF98-6963-803C-004753AA6445}"/>
              </a:ext>
            </a:extLst>
          </p:cNvPr>
          <p:cNvSpPr/>
          <p:nvPr/>
        </p:nvSpPr>
        <p:spPr>
          <a:xfrm>
            <a:off x="5671239" y="5649786"/>
            <a:ext cx="490975" cy="412458"/>
          </a:xfrm>
          <a:prstGeom prst="chevron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74C4E9"/>
              </a:gs>
              <a:gs pos="72000">
                <a:srgbClr val="A2D8F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1C7E9A-7AB6-428E-1A28-7BF12FD3C260}"/>
                  </a:ext>
                </a:extLst>
              </p:cNvPr>
              <p:cNvSpPr txBox="1"/>
              <p:nvPr/>
            </p:nvSpPr>
            <p:spPr>
              <a:xfrm>
                <a:off x="3475907" y="5438277"/>
                <a:ext cx="226306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1</a:t>
                </a:r>
                <a:r>
                  <a:rPr lang="en-US" altLang="ko-KR" sz="2000" baseline="30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st</a:t>
                </a:r>
                <a:r>
                  <a:rPr lang="en-US" altLang="ko-KR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Floor Altitude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𝐻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1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=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59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.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00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 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[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𝑚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]</m:t>
                    </m:r>
                  </m:oMath>
                </a14:m>
                <a:r>
                  <a:rPr lang="ko-KR" altLang="en-US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1C7E9A-7AB6-428E-1A28-7BF12FD3C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907" y="5438277"/>
                <a:ext cx="2263068" cy="707886"/>
              </a:xfrm>
              <a:prstGeom prst="rect">
                <a:avLst/>
              </a:prstGeom>
              <a:blipFill>
                <a:blip r:embed="rId5"/>
                <a:stretch>
                  <a:fillRect l="-2695" t="-4310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34CF13-4485-3947-125B-52F5C620246F}"/>
              </a:ext>
            </a:extLst>
          </p:cNvPr>
          <p:cNvSpPr/>
          <p:nvPr/>
        </p:nvSpPr>
        <p:spPr>
          <a:xfrm>
            <a:off x="2978269" y="5819906"/>
            <a:ext cx="311888" cy="288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F3E47BA-EAA0-6A06-1C97-58D8D11A6693}"/>
                  </a:ext>
                </a:extLst>
              </p:cNvPr>
              <p:cNvSpPr txBox="1"/>
              <p:nvPr/>
            </p:nvSpPr>
            <p:spPr>
              <a:xfrm>
                <a:off x="6317333" y="5431481"/>
                <a:ext cx="243761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Sensor Distance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𝐻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2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−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𝐻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1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=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3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.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82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 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[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𝑚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]</m:t>
                    </m:r>
                  </m:oMath>
                </a14:m>
                <a:r>
                  <a:rPr lang="ko-KR" altLang="en-US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F3E47BA-EAA0-6A06-1C97-58D8D11A6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7333" y="5431481"/>
                <a:ext cx="2437611" cy="707886"/>
              </a:xfrm>
              <a:prstGeom prst="rect">
                <a:avLst/>
              </a:prstGeom>
              <a:blipFill>
                <a:blip r:embed="rId6"/>
                <a:stretch>
                  <a:fillRect l="-2500" t="-5172" b="-9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그룹 26">
            <a:extLst>
              <a:ext uri="{FF2B5EF4-FFF2-40B4-BE49-F238E27FC236}">
                <a16:creationId xmlns:a16="http://schemas.microsoft.com/office/drawing/2014/main" id="{FBA4EAA4-B06D-FE9F-39BF-268753A4DA9F}"/>
              </a:ext>
            </a:extLst>
          </p:cNvPr>
          <p:cNvGrpSpPr/>
          <p:nvPr/>
        </p:nvGrpSpPr>
        <p:grpSpPr>
          <a:xfrm>
            <a:off x="8874807" y="228474"/>
            <a:ext cx="2357382" cy="806119"/>
            <a:chOff x="9189576" y="1055801"/>
            <a:chExt cx="2357382" cy="80611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8680CE-58B9-A6DB-530B-6E065A7D30B2}"/>
                </a:ext>
              </a:extLst>
            </p:cNvPr>
            <p:cNvSpPr txBox="1"/>
            <p:nvPr/>
          </p:nvSpPr>
          <p:spPr>
            <a:xfrm>
              <a:off x="9189576" y="1055801"/>
              <a:ext cx="2357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* True Distance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293AC57-F985-FFF5-901F-7AF8755EF6EC}"/>
                    </a:ext>
                  </a:extLst>
                </p:cNvPr>
                <p:cNvSpPr txBox="1"/>
                <p:nvPr/>
              </p:nvSpPr>
              <p:spPr>
                <a:xfrm>
                  <a:off x="9435062" y="1455911"/>
                  <a:ext cx="2111895" cy="4060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>
                    <a:defRPr/>
                  </a:pPr>
                  <a14:m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ko-KR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현대하모니 M" panose="02020603020101020101" pitchFamily="18" charset="-127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altLang="ko-KR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현대하모니 M" panose="02020603020101020101" pitchFamily="18" charset="-127"/>
                              <a:cs typeface="+mn-cs"/>
                            </a:rPr>
                            <m:t>𝐻</m:t>
                          </m:r>
                        </m:e>
                        <m:sub>
                          <m:r>
                            <a:rPr kumimoji="0" lang="en-US" altLang="ko-KR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현대하모니 M" panose="02020603020101020101" pitchFamily="18" charset="-127"/>
                              <a:cs typeface="+mn-cs"/>
                            </a:rPr>
                            <m:t>𝑇𝑟𝑢𝑒</m:t>
                          </m:r>
                        </m:sub>
                        <m:sup>
                          <m:r>
                            <a:rPr lang="en-US" altLang="ko-KR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현대하모니 M" panose="02020603020101020101" pitchFamily="18" charset="-127"/>
                            </a:rPr>
                            <m:t>12</m:t>
                          </m:r>
                        </m:sup>
                      </m:sSubSup>
                      <m:r>
                        <a:rPr kumimoji="0" lang="en-US" altLang="ko-KR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현대하모니 M" panose="02020603020101020101" pitchFamily="18" charset="-127"/>
                          <a:cs typeface="+mn-cs"/>
                        </a:rPr>
                        <m:t>=</m:t>
                      </m:r>
                      <m:r>
                        <a:rPr kumimoji="0" lang="en-US" altLang="ko-KR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현대하모니 M" panose="02020603020101020101" pitchFamily="18" charset="-127"/>
                          <a:cs typeface="+mn-cs"/>
                        </a:rPr>
                        <m:t>4</m:t>
                      </m:r>
                      <m:r>
                        <a:rPr kumimoji="0" lang="en-US" altLang="ko-KR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현대하모니 M" panose="02020603020101020101" pitchFamily="18" charset="-127"/>
                          <a:cs typeface="+mn-cs"/>
                        </a:rPr>
                        <m:t>.</m:t>
                      </m:r>
                      <m:r>
                        <a:rPr kumimoji="0" lang="en-US" altLang="ko-KR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현대하모니 M" panose="02020603020101020101" pitchFamily="18" charset="-127"/>
                          <a:cs typeface="+mn-cs"/>
                        </a:rPr>
                        <m:t>08</m:t>
                      </m:r>
                      <m:r>
                        <a:rPr kumimoji="0" lang="en-US" altLang="ko-KR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현대하모니 M" panose="02020603020101020101" pitchFamily="18" charset="-127"/>
                          <a:cs typeface="+mn-cs"/>
                        </a:rPr>
                        <m:t> [</m:t>
                      </m:r>
                      <m:r>
                        <a:rPr kumimoji="0" lang="en-US" altLang="ko-KR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현대하모니 M" panose="02020603020101020101" pitchFamily="18" charset="-127"/>
                          <a:cs typeface="+mn-cs"/>
                        </a:rPr>
                        <m:t>𝑚</m:t>
                      </m:r>
                      <m:r>
                        <a:rPr kumimoji="0" lang="en-US" altLang="ko-KR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현대하모니 M" panose="02020603020101020101" pitchFamily="18" charset="-127"/>
                          <a:cs typeface="+mn-cs"/>
                        </a:rPr>
                        <m:t>]</m:t>
                      </m:r>
                    </m:oMath>
                  </a14:m>
                  <a:r>
                    <a:rPr kumimoji="0" lang="ko-KR" alt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하모니 M" panose="02020603020101020101" pitchFamily="18" charset="-127"/>
                      <a:ea typeface="현대하모니 M" panose="02020603020101020101" pitchFamily="18" charset="-127"/>
                      <a:cs typeface="+mn-cs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293AC57-F985-FFF5-901F-7AF8755EF6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5062" y="1455911"/>
                  <a:ext cx="2111895" cy="406009"/>
                </a:xfrm>
                <a:prstGeom prst="rect">
                  <a:avLst/>
                </a:prstGeom>
                <a:blipFill>
                  <a:blip r:embed="rId7"/>
                  <a:stretch>
                    <a:fillRect b="-164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화살표: 아래쪽 25">
            <a:extLst>
              <a:ext uri="{FF2B5EF4-FFF2-40B4-BE49-F238E27FC236}">
                <a16:creationId xmlns:a16="http://schemas.microsoft.com/office/drawing/2014/main" id="{27010E21-8B03-7E93-1B45-49E4A31113FE}"/>
              </a:ext>
            </a:extLst>
          </p:cNvPr>
          <p:cNvSpPr/>
          <p:nvPr/>
        </p:nvSpPr>
        <p:spPr>
          <a:xfrm rot="16200000">
            <a:off x="8770122" y="5661596"/>
            <a:ext cx="286264" cy="316619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F7BA572-1C32-5BE4-70AB-8A92818101F3}"/>
                  </a:ext>
                </a:extLst>
              </p:cNvPr>
              <p:cNvSpPr txBox="1"/>
              <p:nvPr/>
            </p:nvSpPr>
            <p:spPr>
              <a:xfrm>
                <a:off x="9401039" y="5634251"/>
                <a:ext cx="205434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Δ</m:t>
                    </m:r>
                    <m:sSub>
                      <m:sSubPr>
                        <m:ctrlPr>
                          <a:rPr lang="en-US" altLang="ko-KR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𝐻</m:t>
                        </m:r>
                      </m:e>
                      <m:sub>
                        <m:r>
                          <a:rPr lang="en-US" altLang="ko-KR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𝑒</m:t>
                        </m:r>
                        <m:r>
                          <a:rPr lang="en-US" altLang="ko-KR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2</m:t>
                        </m:r>
                      </m:sub>
                    </m:sSub>
                    <m:r>
                      <a:rPr kumimoji="0" lang="en-US" altLang="ko-K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현대하모니 M" panose="02020603020101020101" pitchFamily="18" charset="-127"/>
                        <a:cs typeface="+mn-cs"/>
                      </a:rPr>
                      <m:t>=</m:t>
                    </m:r>
                    <m:r>
                      <a:rPr kumimoji="0" lang="en-US" altLang="ko-K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현대하모니 M" panose="02020603020101020101" pitchFamily="18" charset="-127"/>
                        <a:cs typeface="+mn-cs"/>
                      </a:rPr>
                      <m:t>0</m:t>
                    </m:r>
                    <m:r>
                      <a:rPr kumimoji="0" lang="en-US" altLang="ko-K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현대하모니 M" panose="02020603020101020101" pitchFamily="18" charset="-127"/>
                        <a:cs typeface="+mn-cs"/>
                      </a:rPr>
                      <m:t>.</m:t>
                    </m:r>
                    <m:r>
                      <a:rPr kumimoji="0" lang="en-US" altLang="ko-K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현대하모니 M" panose="02020603020101020101" pitchFamily="18" charset="-127"/>
                        <a:cs typeface="+mn-cs"/>
                      </a:rPr>
                      <m:t>26</m:t>
                    </m:r>
                    <m:r>
                      <a:rPr kumimoji="0" lang="en-US" altLang="ko-K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현대하모니 M" panose="02020603020101020101" pitchFamily="18" charset="-127"/>
                        <a:cs typeface="+mn-cs"/>
                      </a:rPr>
                      <m:t> [</m:t>
                    </m:r>
                    <m:r>
                      <a:rPr kumimoji="0" lang="en-US" altLang="ko-K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현대하모니 M" panose="02020603020101020101" pitchFamily="18" charset="-127"/>
                        <a:cs typeface="+mn-cs"/>
                      </a:rPr>
                      <m:t>𝑚</m:t>
                    </m:r>
                    <m:r>
                      <a:rPr kumimoji="0" lang="en-US" altLang="ko-K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현대하모니 M" panose="02020603020101020101" pitchFamily="18" charset="-127"/>
                        <a:cs typeface="+mn-cs"/>
                      </a:rPr>
                      <m:t>]</m:t>
                    </m:r>
                  </m:oMath>
                </a14:m>
                <a:r>
                  <a: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하모니 M" panose="02020603020101020101" pitchFamily="18" charset="-127"/>
                    <a:ea typeface="현대하모니 M" panose="02020603020101020101" pitchFamily="18" charset="-127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F7BA572-1C32-5BE4-70AB-8A9281810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1039" y="5634251"/>
                <a:ext cx="2054342" cy="400110"/>
              </a:xfrm>
              <a:prstGeom prst="rect">
                <a:avLst/>
              </a:prstGeom>
              <a:blipFill>
                <a:blip r:embed="rId8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97DF46A-9C70-3C7B-F319-70DDA6CAF181}"/>
                  </a:ext>
                </a:extLst>
              </p:cNvPr>
              <p:cNvSpPr txBox="1"/>
              <p:nvPr/>
            </p:nvSpPr>
            <p:spPr>
              <a:xfrm>
                <a:off x="715201" y="5438277"/>
                <a:ext cx="226306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2</a:t>
                </a:r>
                <a:r>
                  <a:rPr lang="en-US" altLang="ko-KR" sz="2000" baseline="30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nd</a:t>
                </a:r>
                <a:r>
                  <a:rPr lang="en-US" altLang="ko-KR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Floor Altitude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𝐻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2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=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62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.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82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 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[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𝑚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]</m:t>
                    </m:r>
                  </m:oMath>
                </a14:m>
                <a:r>
                  <a:rPr lang="ko-KR" altLang="en-US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97DF46A-9C70-3C7B-F319-70DDA6CAF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201" y="5438277"/>
                <a:ext cx="2263068" cy="707886"/>
              </a:xfrm>
              <a:prstGeom prst="rect">
                <a:avLst/>
              </a:prstGeom>
              <a:blipFill>
                <a:blip r:embed="rId9"/>
                <a:stretch>
                  <a:fillRect l="-2688" t="-4310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DBFD0A8E-960F-D20B-4B13-7472ED2E1A8E}"/>
              </a:ext>
            </a:extLst>
          </p:cNvPr>
          <p:cNvSpPr txBox="1"/>
          <p:nvPr/>
        </p:nvSpPr>
        <p:spPr>
          <a:xfrm>
            <a:off x="8874806" y="1140241"/>
            <a:ext cx="28139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solidFill>
                  <a:srgbClr val="0070C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줄자를 활용하여 임시로 측정된 값</a:t>
            </a:r>
            <a:br>
              <a:rPr lang="en-US" altLang="ko-KR" sz="1400">
                <a:solidFill>
                  <a:srgbClr val="0070C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</a:br>
            <a:br>
              <a:rPr lang="en-US" altLang="ko-KR" sz="1400">
                <a:solidFill>
                  <a:srgbClr val="0070C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</a:br>
            <a:r>
              <a:rPr lang="ko-KR" altLang="en-US" sz="1400">
                <a:solidFill>
                  <a:srgbClr val="0070C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추후 레이저 거리측정기를</a:t>
            </a:r>
            <a:r>
              <a:rPr lang="en-US" altLang="ko-KR" sz="1400">
                <a:solidFill>
                  <a:srgbClr val="0070C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1400">
                <a:solidFill>
                  <a:srgbClr val="0070C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활용하여 정확한 거리 측정 필요</a:t>
            </a:r>
            <a:endParaRPr lang="en-US" altLang="ko-KR" sz="1400">
              <a:solidFill>
                <a:srgbClr val="0070C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1095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8F461-4447-0713-7879-321F17483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690062-6AEE-1C25-2C6D-B51178FE5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6.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결과 분석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–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기압고도계 설계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A4444A-8254-332F-F38D-ACC8ED47F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z="180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16</a:t>
            </a:fld>
            <a:endParaRPr lang="ko-KR" altLang="en-US" sz="18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218202-340F-CC8A-8319-31D6E4CCA493}"/>
              </a:ext>
            </a:extLst>
          </p:cNvPr>
          <p:cNvSpPr txBox="1"/>
          <p:nvPr/>
        </p:nvSpPr>
        <p:spPr>
          <a:xfrm>
            <a:off x="0" y="6492240"/>
            <a:ext cx="2743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* </a:t>
            </a:r>
            <a:r>
              <a:rPr lang="ko-KR" altLang="en-US" sz="160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뉴턴홀</a:t>
            </a:r>
            <a:r>
              <a:rPr lang="ko-KR" altLang="en-US" sz="16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중앙 계단 기준 측정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B51B1FC-08FB-057E-4078-1D9E3FF60976}"/>
                  </a:ext>
                </a:extLst>
              </p:cNvPr>
              <p:cNvSpPr txBox="1"/>
              <p:nvPr/>
            </p:nvSpPr>
            <p:spPr>
              <a:xfrm>
                <a:off x="8874807" y="3334709"/>
                <a:ext cx="29131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Mean Value: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6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5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.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98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 [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𝑚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]</m:t>
                    </m:r>
                  </m:oMath>
                </a14:m>
                <a:endParaRPr lang="ko-KR" altLang="en-US" sz="200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B51B1FC-08FB-057E-4078-1D9E3FF60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4807" y="3334709"/>
                <a:ext cx="2913156" cy="400110"/>
              </a:xfrm>
              <a:prstGeom prst="rect">
                <a:avLst/>
              </a:prstGeom>
              <a:blipFill>
                <a:blip r:embed="rId2"/>
                <a:stretch>
                  <a:fillRect l="-2301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4982FCBB-E522-6A06-A353-5C281011C65E}"/>
              </a:ext>
            </a:extLst>
          </p:cNvPr>
          <p:cNvSpPr/>
          <p:nvPr/>
        </p:nvSpPr>
        <p:spPr>
          <a:xfrm rot="5400000">
            <a:off x="8367163" y="3367689"/>
            <a:ext cx="286264" cy="316619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94C5FB9-F955-B05F-A1A8-D3083F45BD22}"/>
                  </a:ext>
                </a:extLst>
              </p:cNvPr>
              <p:cNvSpPr txBox="1"/>
              <p:nvPr/>
            </p:nvSpPr>
            <p:spPr>
              <a:xfrm>
                <a:off x="8874807" y="2423381"/>
                <a:ext cx="27432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Sensor Resolution Boundary </a:t>
                </a:r>
                <a14:m>
                  <m:oMath xmlns:m="http://schemas.openxmlformats.org/officeDocument/2006/math"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±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0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.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5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 [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𝑚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]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)</m:t>
                    </m:r>
                  </m:oMath>
                </a14:m>
                <a:endParaRPr lang="ko-KR" altLang="en-US" sz="200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94C5FB9-F955-B05F-A1A8-D3083F45B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4807" y="2423381"/>
                <a:ext cx="2743200" cy="707886"/>
              </a:xfrm>
              <a:prstGeom prst="rect">
                <a:avLst/>
              </a:prstGeom>
              <a:blipFill>
                <a:blip r:embed="rId3"/>
                <a:stretch>
                  <a:fillRect l="-2444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4FA78151-6553-9605-89E7-4B97FCE89E00}"/>
              </a:ext>
            </a:extLst>
          </p:cNvPr>
          <p:cNvSpPr/>
          <p:nvPr/>
        </p:nvSpPr>
        <p:spPr>
          <a:xfrm rot="5400000">
            <a:off x="8367163" y="2456361"/>
            <a:ext cx="286264" cy="316619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34DA4CB-49CA-7EB8-CF9B-8117A8746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897" y="1494020"/>
            <a:ext cx="7489088" cy="386996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235A295-4ED7-5CDC-F424-720DA7CDE631}"/>
              </a:ext>
            </a:extLst>
          </p:cNvPr>
          <p:cNvSpPr txBox="1"/>
          <p:nvPr/>
        </p:nvSpPr>
        <p:spPr>
          <a:xfrm>
            <a:off x="3090485" y="1155630"/>
            <a:ext cx="343086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3</a:t>
            </a:r>
            <a:r>
              <a:rPr lang="ko-KR" altLang="en-US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층 고도 값 </a:t>
            </a:r>
            <a:r>
              <a:rPr lang="en-US" altLang="ko-KR" sz="24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(100Hz)</a:t>
            </a:r>
            <a:endParaRPr lang="ko-KR" altLang="en-US" sz="24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D65F4FF0-F58A-0776-1CBE-6EE26807904D}"/>
              </a:ext>
            </a:extLst>
          </p:cNvPr>
          <p:cNvSpPr/>
          <p:nvPr/>
        </p:nvSpPr>
        <p:spPr>
          <a:xfrm>
            <a:off x="5671239" y="5649786"/>
            <a:ext cx="490975" cy="412458"/>
          </a:xfrm>
          <a:prstGeom prst="chevron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74C4E9"/>
              </a:gs>
              <a:gs pos="72000">
                <a:srgbClr val="A2D8F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E9F00C-CCE1-9F7E-FD56-35DA711EBFDE}"/>
                  </a:ext>
                </a:extLst>
              </p:cNvPr>
              <p:cNvSpPr txBox="1"/>
              <p:nvPr/>
            </p:nvSpPr>
            <p:spPr>
              <a:xfrm>
                <a:off x="715201" y="5438277"/>
                <a:ext cx="226306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3</a:t>
                </a:r>
                <a:r>
                  <a:rPr lang="en-US" altLang="ko-KR" sz="2000" baseline="30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rd</a:t>
                </a:r>
                <a:r>
                  <a:rPr lang="en-US" altLang="ko-KR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Floor Altitude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𝐻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3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=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65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.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98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 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[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𝑚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]</m:t>
                    </m:r>
                  </m:oMath>
                </a14:m>
                <a:r>
                  <a:rPr lang="ko-KR" altLang="en-US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E9F00C-CCE1-9F7E-FD56-35DA711EB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201" y="5438277"/>
                <a:ext cx="2263068" cy="707886"/>
              </a:xfrm>
              <a:prstGeom prst="rect">
                <a:avLst/>
              </a:prstGeom>
              <a:blipFill>
                <a:blip r:embed="rId5"/>
                <a:stretch>
                  <a:fillRect l="-2688" t="-4310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4179CD-FA92-09C2-D3CC-0F2432CB14C8}"/>
                  </a:ext>
                </a:extLst>
              </p:cNvPr>
              <p:cNvSpPr txBox="1"/>
              <p:nvPr/>
            </p:nvSpPr>
            <p:spPr>
              <a:xfrm>
                <a:off x="3408170" y="5438277"/>
                <a:ext cx="226306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2</a:t>
                </a:r>
                <a:r>
                  <a:rPr lang="en-US" altLang="ko-KR" sz="2000" baseline="30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nd</a:t>
                </a:r>
                <a:r>
                  <a:rPr lang="en-US" altLang="ko-KR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Floor Altitude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𝐻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2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=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62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.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82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 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[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𝑚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]</m:t>
                    </m:r>
                  </m:oMath>
                </a14:m>
                <a:r>
                  <a:rPr lang="ko-KR" altLang="en-US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4179CD-FA92-09C2-D3CC-0F2432CB1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8170" y="5438277"/>
                <a:ext cx="2263068" cy="707886"/>
              </a:xfrm>
              <a:prstGeom prst="rect">
                <a:avLst/>
              </a:prstGeom>
              <a:blipFill>
                <a:blip r:embed="rId6"/>
                <a:stretch>
                  <a:fillRect l="-2695" t="-4310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49BBE5-8313-15BB-EA41-2A8F44E6E0D6}"/>
              </a:ext>
            </a:extLst>
          </p:cNvPr>
          <p:cNvSpPr/>
          <p:nvPr/>
        </p:nvSpPr>
        <p:spPr>
          <a:xfrm>
            <a:off x="2978269" y="5819906"/>
            <a:ext cx="311888" cy="288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09AA59F-B01D-0574-C271-342F1998D675}"/>
                  </a:ext>
                </a:extLst>
              </p:cNvPr>
              <p:cNvSpPr txBox="1"/>
              <p:nvPr/>
            </p:nvSpPr>
            <p:spPr>
              <a:xfrm>
                <a:off x="6317333" y="5431481"/>
                <a:ext cx="243761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Sensor Distance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𝐻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3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−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𝐻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2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=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3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.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16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 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[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𝑚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]</m:t>
                    </m:r>
                  </m:oMath>
                </a14:m>
                <a:r>
                  <a:rPr lang="ko-KR" altLang="en-US" sz="2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09AA59F-B01D-0574-C271-342F1998D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7333" y="5431481"/>
                <a:ext cx="2437611" cy="707886"/>
              </a:xfrm>
              <a:prstGeom prst="rect">
                <a:avLst/>
              </a:prstGeom>
              <a:blipFill>
                <a:blip r:embed="rId7"/>
                <a:stretch>
                  <a:fillRect l="-2500" t="-5172" b="-9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9EE4D14F-FD86-D176-398F-1F364F98C30A}"/>
              </a:ext>
            </a:extLst>
          </p:cNvPr>
          <p:cNvSpPr/>
          <p:nvPr/>
        </p:nvSpPr>
        <p:spPr>
          <a:xfrm rot="16200000">
            <a:off x="8770122" y="5661596"/>
            <a:ext cx="286264" cy="316619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F0000"/>
              </a:gs>
              <a:gs pos="83000">
                <a:srgbClr val="FF000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708E18-F039-4B75-6035-A4C4518B3D2E}"/>
                  </a:ext>
                </a:extLst>
              </p:cNvPr>
              <p:cNvSpPr txBox="1"/>
              <p:nvPr/>
            </p:nvSpPr>
            <p:spPr>
              <a:xfrm>
                <a:off x="9401039" y="5634251"/>
                <a:ext cx="205434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현대하모니 M" panose="02020603020101020101" pitchFamily="18" charset="-127"/>
                      </a:rPr>
                      <m:t>Δ</m:t>
                    </m:r>
                    <m:sSub>
                      <m:sSubPr>
                        <m:ctrlPr>
                          <a:rPr lang="en-US" altLang="ko-KR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𝐻</m:t>
                        </m:r>
                      </m:e>
                      <m:sub>
                        <m:r>
                          <a:rPr lang="en-US" altLang="ko-KR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𝑒</m:t>
                        </m:r>
                        <m:r>
                          <a:rPr lang="en-US" altLang="ko-KR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현대하모니 M" panose="02020603020101020101" pitchFamily="18" charset="-127"/>
                          </a:rPr>
                          <m:t>2</m:t>
                        </m:r>
                      </m:sub>
                    </m:sSub>
                    <m:r>
                      <a:rPr kumimoji="0" lang="en-US" altLang="ko-K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현대하모니 M" panose="02020603020101020101" pitchFamily="18" charset="-127"/>
                        <a:cs typeface="+mn-cs"/>
                      </a:rPr>
                      <m:t>=</m:t>
                    </m:r>
                    <m:r>
                      <a:rPr kumimoji="0" lang="en-US" altLang="ko-K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현대하모니 M" panose="02020603020101020101" pitchFamily="18" charset="-127"/>
                        <a:cs typeface="+mn-cs"/>
                      </a:rPr>
                      <m:t>0</m:t>
                    </m:r>
                    <m:r>
                      <a:rPr kumimoji="0" lang="en-US" altLang="ko-K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현대하모니 M" panose="02020603020101020101" pitchFamily="18" charset="-127"/>
                        <a:cs typeface="+mn-cs"/>
                      </a:rPr>
                      <m:t>.</m:t>
                    </m:r>
                    <m:r>
                      <a:rPr kumimoji="0" lang="en-US" altLang="ko-K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현대하모니 M" panose="02020603020101020101" pitchFamily="18" charset="-127"/>
                        <a:cs typeface="+mn-cs"/>
                      </a:rPr>
                      <m:t>24</m:t>
                    </m:r>
                    <m:r>
                      <a:rPr kumimoji="0" lang="en-US" altLang="ko-K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현대하모니 M" panose="02020603020101020101" pitchFamily="18" charset="-127"/>
                        <a:cs typeface="+mn-cs"/>
                      </a:rPr>
                      <m:t> [</m:t>
                    </m:r>
                    <m:r>
                      <a:rPr kumimoji="0" lang="en-US" altLang="ko-K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현대하모니 M" panose="02020603020101020101" pitchFamily="18" charset="-127"/>
                        <a:cs typeface="+mn-cs"/>
                      </a:rPr>
                      <m:t>𝑚</m:t>
                    </m:r>
                    <m:r>
                      <a:rPr kumimoji="0" lang="en-US" altLang="ko-KR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현대하모니 M" panose="02020603020101020101" pitchFamily="18" charset="-127"/>
                        <a:cs typeface="+mn-cs"/>
                      </a:rPr>
                      <m:t>]</m:t>
                    </m:r>
                  </m:oMath>
                </a14:m>
                <a:r>
                  <a: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현대하모니 M" panose="02020603020101020101" pitchFamily="18" charset="-127"/>
                    <a:ea typeface="현대하모니 M" panose="02020603020101020101" pitchFamily="18" charset="-127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708E18-F039-4B75-6035-A4C4518B3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1039" y="5634251"/>
                <a:ext cx="2054342" cy="400110"/>
              </a:xfrm>
              <a:prstGeom prst="rect">
                <a:avLst/>
              </a:prstGeom>
              <a:blipFill>
                <a:blip r:embed="rId8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그룹 27">
            <a:extLst>
              <a:ext uri="{FF2B5EF4-FFF2-40B4-BE49-F238E27FC236}">
                <a16:creationId xmlns:a16="http://schemas.microsoft.com/office/drawing/2014/main" id="{466A599B-AA26-6DFB-B8DE-3FD25EDDAC08}"/>
              </a:ext>
            </a:extLst>
          </p:cNvPr>
          <p:cNvGrpSpPr/>
          <p:nvPr/>
        </p:nvGrpSpPr>
        <p:grpSpPr>
          <a:xfrm>
            <a:off x="8874807" y="228474"/>
            <a:ext cx="2357382" cy="806119"/>
            <a:chOff x="9189576" y="1055801"/>
            <a:chExt cx="2357382" cy="80611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2A4691C-AE2B-72A5-9F76-9A67071718F0}"/>
                </a:ext>
              </a:extLst>
            </p:cNvPr>
            <p:cNvSpPr txBox="1"/>
            <p:nvPr/>
          </p:nvSpPr>
          <p:spPr>
            <a:xfrm>
              <a:off x="9189576" y="1055801"/>
              <a:ext cx="2357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* True Distance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23616B7-C41D-34DA-5D12-556B76F0B991}"/>
                    </a:ext>
                  </a:extLst>
                </p:cNvPr>
                <p:cNvSpPr txBox="1"/>
                <p:nvPr/>
              </p:nvSpPr>
              <p:spPr>
                <a:xfrm>
                  <a:off x="9435063" y="1455911"/>
                  <a:ext cx="2054342" cy="4060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>
                    <a:defRPr/>
                  </a:pP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2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현대하모니 M" panose="02020603020101020101" pitchFamily="18" charset="-127"/>
                            </a:rPr>
                          </m:ctrlPr>
                        </m:sSubSupPr>
                        <m:e>
                          <m:r>
                            <a:rPr lang="en-US" altLang="ko-KR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현대하모니 M" panose="02020603020101020101" pitchFamily="18" charset="-127"/>
                            </a:rPr>
                            <m:t>𝐻</m:t>
                          </m:r>
                        </m:e>
                        <m:sub>
                          <m:r>
                            <a:rPr lang="en-US" altLang="ko-KR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현대하모니 M" panose="02020603020101020101" pitchFamily="18" charset="-127"/>
                            </a:rPr>
                            <m:t>𝑇𝑟𝑢𝑒</m:t>
                          </m:r>
                        </m:sub>
                        <m:sup>
                          <m:r>
                            <a:rPr lang="en-US" altLang="ko-KR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현대하모니 M" panose="02020603020101020101" pitchFamily="18" charset="-127"/>
                            </a:rPr>
                            <m:t>2</m:t>
                          </m:r>
                          <m:r>
                            <a:rPr lang="en-US" altLang="ko-KR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현대하모니 M" panose="02020603020101020101" pitchFamily="18" charset="-127"/>
                            </a:rPr>
                            <m:t>3</m:t>
                          </m:r>
                        </m:sup>
                      </m:sSubSup>
                      <m:r>
                        <a:rPr kumimoji="0" lang="en-US" altLang="ko-KR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현대하모니 M" panose="02020603020101020101" pitchFamily="18" charset="-127"/>
                          <a:cs typeface="+mn-cs"/>
                        </a:rPr>
                        <m:t>=</m:t>
                      </m:r>
                      <m:r>
                        <a:rPr kumimoji="0" lang="en-US" altLang="ko-KR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현대하모니 M" panose="02020603020101020101" pitchFamily="18" charset="-127"/>
                          <a:cs typeface="+mn-cs"/>
                        </a:rPr>
                        <m:t>3</m:t>
                      </m:r>
                      <m:r>
                        <a:rPr kumimoji="0" lang="en-US" altLang="ko-KR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현대하모니 M" panose="02020603020101020101" pitchFamily="18" charset="-127"/>
                          <a:cs typeface="+mn-cs"/>
                        </a:rPr>
                        <m:t>.</m:t>
                      </m:r>
                      <m:r>
                        <a:rPr kumimoji="0" lang="en-US" altLang="ko-KR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현대하모니 M" panose="02020603020101020101" pitchFamily="18" charset="-127"/>
                          <a:cs typeface="+mn-cs"/>
                        </a:rPr>
                        <m:t>4</m:t>
                      </m:r>
                      <m:r>
                        <a:rPr kumimoji="0" lang="en-US" altLang="ko-KR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현대하모니 M" panose="02020603020101020101" pitchFamily="18" charset="-127"/>
                          <a:cs typeface="+mn-cs"/>
                        </a:rPr>
                        <m:t> [</m:t>
                      </m:r>
                      <m:r>
                        <a:rPr kumimoji="0" lang="en-US" altLang="ko-KR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현대하모니 M" panose="02020603020101020101" pitchFamily="18" charset="-127"/>
                          <a:cs typeface="+mn-cs"/>
                        </a:rPr>
                        <m:t>𝑚</m:t>
                      </m:r>
                      <m:r>
                        <a:rPr kumimoji="0" lang="en-US" altLang="ko-KR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현대하모니 M" panose="02020603020101020101" pitchFamily="18" charset="-127"/>
                          <a:cs typeface="+mn-cs"/>
                        </a:rPr>
                        <m:t>]</m:t>
                      </m:r>
                    </m:oMath>
                  </a14:m>
                  <a:r>
                    <a:rPr kumimoji="0" lang="ko-KR" alt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현대하모니 M" panose="02020603020101020101" pitchFamily="18" charset="-127"/>
                      <a:ea typeface="현대하모니 M" panose="02020603020101020101" pitchFamily="18" charset="-127"/>
                      <a:cs typeface="+mn-cs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23616B7-C41D-34DA-5D12-556B76F0B9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5063" y="1455911"/>
                  <a:ext cx="2054342" cy="406009"/>
                </a:xfrm>
                <a:prstGeom prst="rect">
                  <a:avLst/>
                </a:prstGeom>
                <a:blipFill>
                  <a:blip r:embed="rId9"/>
                  <a:stretch>
                    <a:fillRect b="-179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381E9C8-14AD-CF41-8E1F-A44C22ECA1E2}"/>
              </a:ext>
            </a:extLst>
          </p:cNvPr>
          <p:cNvSpPr txBox="1"/>
          <p:nvPr/>
        </p:nvSpPr>
        <p:spPr>
          <a:xfrm>
            <a:off x="8874806" y="1140241"/>
            <a:ext cx="28139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solidFill>
                  <a:srgbClr val="0070C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줄자를 활용하여 임시로 측정된 값</a:t>
            </a:r>
            <a:br>
              <a:rPr lang="en-US" altLang="ko-KR" sz="1400">
                <a:solidFill>
                  <a:srgbClr val="0070C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</a:br>
            <a:br>
              <a:rPr lang="en-US" altLang="ko-KR" sz="1400">
                <a:solidFill>
                  <a:srgbClr val="0070C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</a:br>
            <a:r>
              <a:rPr lang="ko-KR" altLang="en-US" sz="1400">
                <a:solidFill>
                  <a:srgbClr val="0070C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추후 레이저 거리측정기를</a:t>
            </a:r>
            <a:r>
              <a:rPr lang="en-US" altLang="ko-KR" sz="1400">
                <a:solidFill>
                  <a:srgbClr val="0070C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1400">
                <a:solidFill>
                  <a:srgbClr val="0070C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활용하여 정확한 거리 측정 필요</a:t>
            </a:r>
            <a:endParaRPr lang="en-US" altLang="ko-KR" sz="1400">
              <a:solidFill>
                <a:srgbClr val="0070C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4955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2B508-E028-9F0A-0B4C-14EE30784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D2CEBA-04FB-DB78-0586-45DB6777A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6.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결과 분석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–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기압고도계 설계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E47B1D-41F1-F6E9-F31B-6685AFF02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z="180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17</a:t>
            </a:fld>
            <a:endParaRPr lang="ko-KR" altLang="en-US" sz="18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3C4D1303-E6D0-278D-56CE-D800492EC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688" y="1218242"/>
            <a:ext cx="10641381" cy="4317777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ko-KR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matlab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 plot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창 넣야 함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>
              <a:lnSpc>
                <a:spcPct val="110000"/>
              </a:lnSpc>
              <a:buFontTx/>
              <a:buChar char="-"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센서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raw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데이터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(resolution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50cm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고려해서 이 안에 들어오는지 판단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  <a:p>
            <a:pPr lvl="1">
              <a:lnSpc>
                <a:spcPct val="110000"/>
              </a:lnSpc>
              <a:buFontTx/>
              <a:buChar char="-"/>
            </a:pPr>
            <a:r>
              <a:rPr lang="ko-KR" altLang="en-US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기본 센서 데이터의 분산 정도</a:t>
            </a:r>
            <a:r>
              <a:rPr lang="en-US" altLang="ko-KR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? </a:t>
            </a:r>
            <a:r>
              <a:rPr lang="ko-KR" altLang="en-US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나타내고 가면 좋을 듯</a:t>
            </a:r>
            <a:r>
              <a:rPr lang="en-US" altLang="ko-KR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(</a:t>
            </a:r>
            <a:r>
              <a:rPr lang="ko-KR" altLang="en-US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제시된 </a:t>
            </a:r>
            <a:r>
              <a:rPr lang="en-US" altLang="ko-KR" sz="200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resolutio</a:t>
            </a:r>
            <a:r>
              <a:rPr lang="ko-KR" altLang="en-US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의 신뢰성 판단용</a:t>
            </a:r>
            <a:r>
              <a:rPr lang="en-US" altLang="ko-KR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각 층별 고도 값 데이터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plot</a:t>
            </a:r>
          </a:p>
          <a:p>
            <a:pPr lvl="1">
              <a:lnSpc>
                <a:spcPct val="110000"/>
              </a:lnSpc>
              <a:buFontTx/>
              <a:buChar char="-"/>
            </a:pPr>
            <a:r>
              <a:rPr lang="ko-KR" altLang="en-US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각 층별로 고도 값을 </a:t>
            </a:r>
            <a:r>
              <a:rPr lang="en-US" altLang="ko-KR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plot</a:t>
            </a:r>
            <a:r>
              <a:rPr lang="ko-KR" altLang="en-US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하고</a:t>
            </a:r>
            <a:r>
              <a:rPr lang="en-US" altLang="ko-KR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1</a:t>
            </a:r>
            <a:r>
              <a:rPr lang="ko-KR" altLang="en-US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층의 평균 데이터를 기준으로</a:t>
            </a:r>
            <a:r>
              <a:rPr lang="en-US" altLang="ko-KR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실제 측정고도</a:t>
            </a:r>
            <a:r>
              <a:rPr lang="en-US" altLang="ko-KR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(Z)</a:t>
            </a:r>
            <a:r>
              <a:rPr lang="ko-KR" altLang="en-US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값 만큼 더한 선들을 같이 </a:t>
            </a:r>
            <a:r>
              <a:rPr lang="en-US" altLang="ko-KR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plot </a:t>
            </a:r>
            <a:r>
              <a:rPr lang="ko-KR" altLang="en-US" sz="20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해서 나타내기</a:t>
            </a:r>
            <a:endParaRPr lang="en-US" altLang="ko-KR" sz="20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>
              <a:lnSpc>
                <a:spcPct val="110000"/>
              </a:lnSpc>
              <a:buFontTx/>
              <a:buChar char="-"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상대 고도 값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validation</a:t>
            </a:r>
          </a:p>
          <a:p>
            <a:pPr lvl="1">
              <a:lnSpc>
                <a:spcPct val="110000"/>
              </a:lnSpc>
              <a:buFontTx/>
              <a:buChar char="-"/>
            </a:pPr>
            <a:endParaRPr lang="en-US" altLang="ko-KR" sz="20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>
              <a:lnSpc>
                <a:spcPct val="110000"/>
              </a:lnSpc>
              <a:buFontTx/>
              <a:buChar char="-"/>
            </a:pP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>
              <a:lnSpc>
                <a:spcPct val="110000"/>
              </a:lnSpc>
              <a:buFontTx/>
              <a:buChar char="-"/>
            </a:pP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실제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google earth (true value)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값과 비교하면서 발생한 문제 언급</a:t>
            </a: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>
              <a:lnSpc>
                <a:spcPct val="110000"/>
              </a:lnSpc>
              <a:buFontTx/>
              <a:buChar char="-"/>
            </a:pPr>
            <a:endParaRPr lang="en-US" altLang="ko-KR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1308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2E3B1-925F-403A-D8E9-70FA4C0EF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4ADC9A-79E2-E2C2-882C-DD7AE6DA5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부록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 1.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기압 데이터 측정 값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- 1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83F05C-A451-1A33-0FAA-3DDE1908D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z="180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18</a:t>
            </a:fld>
            <a:endParaRPr lang="ko-KR" altLang="en-US" sz="18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4F308DF-5E59-68E7-754A-A05252320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284" y="1266802"/>
            <a:ext cx="9463431" cy="476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82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43D8B-CC54-D7A6-51E4-B13D85B16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2B611-C2AA-F28F-A015-ACFACF591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부록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 1.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기압 데이터 측정 값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– 2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CEF089-B045-1F92-A2E0-39FC522B6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z="180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19</a:t>
            </a:fld>
            <a:endParaRPr lang="ko-KR" altLang="en-US" sz="18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997EA80-8FE8-448B-AAAB-8071CC6C0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800" y="1316648"/>
            <a:ext cx="9464400" cy="476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160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67EDF-0655-485B-D361-BF8FBF73C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A2737F-5B21-EFC1-505F-AC902AD20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부록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 1. 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기압 데이터 측정 값 </a:t>
            </a:r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– 3</a:t>
            </a:r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9EB08E-3B79-8383-4236-961A0DE5D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1E8F2-D7DA-47AE-9DAA-01B65DE22032}" type="slidenum">
              <a:rPr lang="ko-KR" altLang="en-US" sz="180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20</a:t>
            </a:fld>
            <a:endParaRPr lang="ko-KR" altLang="en-US" sz="18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E5CF999-B142-F334-D8B5-7300DF861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800" y="1240537"/>
            <a:ext cx="9464400" cy="477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624431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rgbClr val="FF0000"/>
          </a:solidFill>
          <a:tailEnd type="triangl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패싯</Template>
  <TotalTime>0</TotalTime>
  <Words>1046</Words>
  <Application>Microsoft Office PowerPoint</Application>
  <PresentationFormat>와이드스크린</PresentationFormat>
  <Paragraphs>218</Paragraphs>
  <Slides>20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1" baseType="lpstr">
      <vt:lpstr>Arial Unicode MS</vt:lpstr>
      <vt:lpstr>맑은 고딕</vt:lpstr>
      <vt:lpstr>서울남산체 M</vt:lpstr>
      <vt:lpstr>현대하모니 B</vt:lpstr>
      <vt:lpstr>현대하모니 L</vt:lpstr>
      <vt:lpstr>현대하모니 M</vt:lpstr>
      <vt:lpstr>Arial</vt:lpstr>
      <vt:lpstr>Calibri</vt:lpstr>
      <vt:lpstr>Cambria Math</vt:lpstr>
      <vt:lpstr>Wingdings 2</vt:lpstr>
      <vt:lpstr>HDOfficeLightV0</vt:lpstr>
      <vt:lpstr>PowerPoint 프레젠테이션</vt:lpstr>
      <vt:lpstr>Contents</vt:lpstr>
      <vt:lpstr>1. 목표</vt:lpstr>
      <vt:lpstr>2. 용어정리</vt:lpstr>
      <vt:lpstr>3. 고도채널 안정화 루프 분석</vt:lpstr>
      <vt:lpstr>4. 기압고도계 설계 - 1</vt:lpstr>
      <vt:lpstr>4. 기압고도계 설계 - 2</vt:lpstr>
      <vt:lpstr>4. 기압고도계 설계 - 3</vt:lpstr>
      <vt:lpstr>4. 기압고도계 설계 – 4 (부록)</vt:lpstr>
      <vt:lpstr>4. 기압고도계 설계 - 5</vt:lpstr>
      <vt:lpstr>4. 기압고도계 설계 - 6</vt:lpstr>
      <vt:lpstr>4. 기압고도계 설계 - 7</vt:lpstr>
      <vt:lpstr>5. 수직채널 안정화 루프 설계</vt:lpstr>
      <vt:lpstr>6. 결과 분석 – 기압고도계 설계</vt:lpstr>
      <vt:lpstr>6. 결과 분석 – 기압고도계 설계</vt:lpstr>
      <vt:lpstr>6. 결과 분석 – 기압고도계 설계</vt:lpstr>
      <vt:lpstr>6. 결과 분석 – 기압고도계 설계</vt:lpstr>
      <vt:lpstr>부록 1. 기압 데이터 측정 값 - 1층</vt:lpstr>
      <vt:lpstr>부록 1. 기압 데이터 측정 값 – 2층</vt:lpstr>
      <vt:lpstr>부록 1. 기압 데이터 측정 값 – 3층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lee chanseok</dc:creator>
  <cp:lastModifiedBy>세인 전</cp:lastModifiedBy>
  <cp:revision>3</cp:revision>
  <dcterms:created xsi:type="dcterms:W3CDTF">2019-11-19T08:34:34Z</dcterms:created>
  <dcterms:modified xsi:type="dcterms:W3CDTF">2026-03-18T16:31:08Z</dcterms:modified>
</cp:coreProperties>
</file>